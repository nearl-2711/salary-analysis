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3"/>
  </p:notesMasterIdLst>
  <p:sldIdLst>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58"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41" autoAdjust="0"/>
  </p:normalViewPr>
  <p:slideViewPr>
    <p:cSldViewPr snapToGrid="0">
      <p:cViewPr>
        <p:scale>
          <a:sx n="75" d="100"/>
          <a:sy n="75" d="100"/>
        </p:scale>
        <p:origin x="336" y="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dgm:spPr/>
      <dgm:t>
        <a:bodyPr/>
        <a:lstStyle/>
        <a:p>
          <a:r>
            <a:rPr lang="en-US" dirty="0"/>
            <a:t>DATA PRE- PROCESSING</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r>
            <a:rPr lang="en-US" dirty="0"/>
            <a:t>Handling Duplicated </a:t>
          </a:r>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C5146535-FD3D-4589-98A3-623B8DA4B8DB}">
      <dgm:prSet/>
      <dgm:spPr/>
      <dgm:t>
        <a:bodyPr/>
        <a:lstStyle/>
        <a:p>
          <a:r>
            <a:rPr lang="en-US" dirty="0"/>
            <a:t>FEATURE SELECTION &amp; ENGINEERING</a:t>
          </a:r>
        </a:p>
      </dgm:t>
    </dgm:pt>
    <dgm:pt modelId="{20848F78-EC70-4162-96CE-CC68006930F0}" type="parTrans" cxnId="{8EBF857E-7408-4941-91E4-293B0F59EEF7}">
      <dgm:prSet/>
      <dgm:spPr/>
      <dgm:t>
        <a:bodyPr/>
        <a:lstStyle/>
        <a:p>
          <a:endParaRPr lang="en-US"/>
        </a:p>
      </dgm:t>
    </dgm:pt>
    <dgm:pt modelId="{7A3CCAF8-AC3A-401E-AEDD-44BBC1AA9C31}" type="sibTrans" cxnId="{8EBF857E-7408-4941-91E4-293B0F59EEF7}">
      <dgm:prSet/>
      <dgm:spPr/>
      <dgm:t>
        <a:bodyPr/>
        <a:lstStyle/>
        <a:p>
          <a:endParaRPr lang="en-US"/>
        </a:p>
      </dgm:t>
    </dgm:pt>
    <dgm:pt modelId="{E80CA270-6C90-4E17-ACEA-46B56AD54DD1}">
      <dgm:prSet/>
      <dgm:spPr/>
      <dgm:t>
        <a:bodyPr/>
        <a:lstStyle/>
        <a:p>
          <a:r>
            <a:rPr lang="en-US" dirty="0"/>
            <a:t>Standardization numerical variable </a:t>
          </a:r>
          <a:br>
            <a:rPr lang="en-US" dirty="0"/>
          </a:br>
          <a:r>
            <a:rPr lang="en-US" dirty="0"/>
            <a:t>&amp; Checking </a:t>
          </a:r>
          <a:r>
            <a:rPr lang="en-US" dirty="0" err="1"/>
            <a:t>Multiollinearity</a:t>
          </a:r>
          <a:endParaRPr lang="en-US" dirty="0"/>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dgm:spPr/>
      <dgm:t>
        <a:bodyPr/>
        <a:lstStyle/>
        <a:p>
          <a:r>
            <a:rPr lang="en-US" dirty="0"/>
            <a:t>SPLIT DATA</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r>
            <a:rPr lang="en-US" dirty="0"/>
            <a:t>80% Train : 20% Split</a:t>
          </a:r>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799E3509-C35B-495F-969D-7DB38C61C301}">
      <dgm:prSet/>
      <dgm:spPr/>
      <dgm:t>
        <a:bodyPr/>
        <a:lstStyle/>
        <a:p>
          <a:r>
            <a:rPr lang="en-US" dirty="0"/>
            <a:t>OUTLING HANDLING</a:t>
          </a:r>
        </a:p>
      </dgm:t>
    </dgm:pt>
    <dgm:pt modelId="{6EE04835-233C-4543-B036-B983E02997A8}" type="parTrans" cxnId="{4D40B393-F8FA-4798-A6D6-3775AED8AC58}">
      <dgm:prSet/>
      <dgm:spPr/>
      <dgm:t>
        <a:bodyPr/>
        <a:lstStyle/>
        <a:p>
          <a:endParaRPr lang="en-ID"/>
        </a:p>
      </dgm:t>
    </dgm:pt>
    <dgm:pt modelId="{E407A806-2D7C-4E7B-BBC3-FB5AC26FA7F1}" type="sibTrans" cxnId="{4D40B393-F8FA-4798-A6D6-3775AED8AC58}">
      <dgm:prSet/>
      <dgm:spPr/>
      <dgm:t>
        <a:bodyPr/>
        <a:lstStyle/>
        <a:p>
          <a:endParaRPr lang="en-ID"/>
        </a:p>
      </dgm:t>
    </dgm:pt>
    <dgm:pt modelId="{CEFCE37D-E6D5-4E16-B715-E83D63E79C1F}">
      <dgm:prSet/>
      <dgm:spPr/>
      <dgm:t>
        <a:bodyPr/>
        <a:lstStyle/>
        <a:p>
          <a:r>
            <a:rPr lang="en-US" dirty="0"/>
            <a:t>IQR Method</a:t>
          </a:r>
          <a:endParaRPr lang="en-ID" dirty="0"/>
        </a:p>
      </dgm:t>
    </dgm:pt>
    <dgm:pt modelId="{E81CB4EA-DD29-4F42-9169-01E5BDAA68F1}" type="parTrans" cxnId="{EC255DC1-2EA6-4FF3-815D-1487EDA86766}">
      <dgm:prSet/>
      <dgm:spPr/>
      <dgm:t>
        <a:bodyPr/>
        <a:lstStyle/>
        <a:p>
          <a:endParaRPr lang="en-ID"/>
        </a:p>
      </dgm:t>
    </dgm:pt>
    <dgm:pt modelId="{56B5E273-1138-4C23-A9EE-38830F00A5F4}" type="sibTrans" cxnId="{EC255DC1-2EA6-4FF3-815D-1487EDA86766}">
      <dgm:prSet/>
      <dgm:spPr/>
      <dgm:t>
        <a:bodyPr/>
        <a:lstStyle/>
        <a:p>
          <a:endParaRPr lang="en-ID"/>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4">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4">
        <dgm:presLayoutVars>
          <dgm:bulletEnabled val="1"/>
        </dgm:presLayoutVars>
      </dgm:prSet>
      <dgm:spPr/>
    </dgm:pt>
    <dgm:pt modelId="{122B38A3-0442-4747-820C-1F37877E2B0E}" type="pres">
      <dgm:prSet presAssocID="{8DB5D7D5-6A1C-4ABC-8850-759A9D876047}" presName="ConnectLine1" presStyleLbl="sibTrans1D1" presStyleIdx="0" presStyleCnt="4"/>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4"/>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4">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4">
        <dgm:presLayoutVars>
          <dgm:bulletEnabled val="1"/>
        </dgm:presLayoutVars>
      </dgm:prSet>
      <dgm:spPr/>
    </dgm:pt>
    <dgm:pt modelId="{DBA410EB-5F61-4F46-92D9-C5B0AA59EE15}" type="pres">
      <dgm:prSet presAssocID="{C5146535-FD3D-4589-98A3-623B8DA4B8DB}" presName="ConnectLine1" presStyleLbl="sibTrans1D1" presStyleIdx="1" presStyleCnt="4"/>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4"/>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4">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4">
        <dgm:presLayoutVars>
          <dgm:bulletEnabled val="1"/>
        </dgm:presLayoutVars>
      </dgm:prSet>
      <dgm:spPr/>
    </dgm:pt>
    <dgm:pt modelId="{440E9361-37D2-4157-AF38-7B49AD23708B}" type="pres">
      <dgm:prSet presAssocID="{09C152DA-7620-4852-8162-A77EC3609F3F}" presName="ConnectLine1" presStyleLbl="sibTrans1D1" presStyleIdx="2" presStyleCnt="4"/>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4"/>
      <dgm:spPr/>
    </dgm:pt>
    <dgm:pt modelId="{4174F691-D9D3-451C-9893-D177DC3AED58}" type="pres">
      <dgm:prSet presAssocID="{09C152DA-7620-4852-8162-A77EC3609F3F}" presName="EmptyPane1" presStyleCnt="0"/>
      <dgm:spPr/>
    </dgm:pt>
    <dgm:pt modelId="{B36A458A-66C8-4736-864D-22FBA37F1F09}" type="pres">
      <dgm:prSet presAssocID="{0AE8D36D-0F0F-4206-AE39-0A2D73987B68}" presName="spaceBetweenRectangles1" presStyleCnt="0"/>
      <dgm:spPr/>
    </dgm:pt>
    <dgm:pt modelId="{D4F48237-CDA4-4E4F-A39E-8C96B67D3489}" type="pres">
      <dgm:prSet presAssocID="{799E3509-C35B-495F-969D-7DB38C61C301}" presName="composite1" presStyleCnt="0"/>
      <dgm:spPr/>
    </dgm:pt>
    <dgm:pt modelId="{8CD99DB4-5C70-4E6A-A331-1C7FBB955D8B}" type="pres">
      <dgm:prSet presAssocID="{799E3509-C35B-495F-969D-7DB38C61C301}" presName="parent1" presStyleLbl="alignNode1" presStyleIdx="3" presStyleCnt="4">
        <dgm:presLayoutVars>
          <dgm:chMax val="1"/>
          <dgm:chPref val="1"/>
          <dgm:bulletEnabled val="1"/>
        </dgm:presLayoutVars>
      </dgm:prSet>
      <dgm:spPr/>
    </dgm:pt>
    <dgm:pt modelId="{4AD9EDDE-F923-46F7-AE33-10BA662ADC43}" type="pres">
      <dgm:prSet presAssocID="{799E3509-C35B-495F-969D-7DB38C61C301}" presName="Childtext1" presStyleLbl="revTx" presStyleIdx="3" presStyleCnt="4">
        <dgm:presLayoutVars>
          <dgm:bulletEnabled val="1"/>
        </dgm:presLayoutVars>
      </dgm:prSet>
      <dgm:spPr/>
    </dgm:pt>
    <dgm:pt modelId="{4676993C-6FB0-44AA-861C-599A489A2438}" type="pres">
      <dgm:prSet presAssocID="{799E3509-C35B-495F-969D-7DB38C61C301}" presName="ConnectLine1" presStyleLbl="sibTrans1D1" presStyleIdx="3" presStyleCnt="4"/>
      <dgm:spPr>
        <a:noFill/>
        <a:ln w="12700" cap="rnd" cmpd="sng" algn="ctr">
          <a:solidFill>
            <a:schemeClr val="accent1">
              <a:shade val="90000"/>
              <a:hueOff val="446212"/>
              <a:satOff val="-8602"/>
              <a:lumOff val="28124"/>
              <a:alphaOff val="0"/>
            </a:schemeClr>
          </a:solidFill>
          <a:prstDash val="dash"/>
        </a:ln>
        <a:effectLst/>
      </dgm:spPr>
    </dgm:pt>
    <dgm:pt modelId="{5D697FB5-ED57-4A84-A018-735F889DF9B8}" type="pres">
      <dgm:prSet presAssocID="{799E3509-C35B-495F-969D-7DB38C61C301}" presName="ConnectLineEnd1" presStyleLbl="lnNode1" presStyleIdx="3" presStyleCnt="4"/>
      <dgm:spPr/>
    </dgm:pt>
    <dgm:pt modelId="{32971DCE-450B-42FF-BDD7-14E13BFF2CFB}" type="pres">
      <dgm:prSet presAssocID="{799E3509-C35B-495F-969D-7DB38C61C301}"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4D40B393-F8FA-4798-A6D6-3775AED8AC58}" srcId="{6A70FD8F-0050-42E3-8B3A-6ED7CFB9852E}" destId="{799E3509-C35B-495F-969D-7DB38C61C301}" srcOrd="3" destOrd="0" parTransId="{6EE04835-233C-4543-B036-B983E02997A8}" sibTransId="{E407A806-2D7C-4E7B-BBC3-FB5AC26FA7F1}"/>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74572EA3-0CDB-4AB6-AD8B-8287F04706E6}" type="presOf" srcId="{CEFCE37D-E6D5-4E16-B715-E83D63E79C1F}" destId="{4AD9EDDE-F923-46F7-AE33-10BA662ADC43}" srcOrd="0" destOrd="0" presId="urn:microsoft.com/office/officeart/2016/7/layout/RoundedRectangleTimeline"/>
    <dgm:cxn modelId="{6A9279B0-F52A-4732-88FB-765B76288E75}" type="presOf" srcId="{799E3509-C35B-495F-969D-7DB38C61C301}" destId="{8CD99DB4-5C70-4E6A-A331-1C7FBB955D8B}" srcOrd="0" destOrd="0" presId="urn:microsoft.com/office/officeart/2016/7/layout/RoundedRectangleTimeline"/>
    <dgm:cxn modelId="{EC255DC1-2EA6-4FF3-815D-1487EDA86766}" srcId="{799E3509-C35B-495F-969D-7DB38C61C301}" destId="{CEFCE37D-E6D5-4E16-B715-E83D63E79C1F}" srcOrd="0" destOrd="0" parTransId="{E81CB4EA-DD29-4F42-9169-01E5BDAA68F1}" sibTransId="{56B5E273-1138-4C23-A9EE-38830F00A5F4}"/>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 modelId="{95AC1CAF-D294-4D91-8EEC-FEABDC2CAE72}" type="presParOf" srcId="{AB52B3CC-6563-466D-BFC3-9B6B5AFA0881}" destId="{B36A458A-66C8-4736-864D-22FBA37F1F09}" srcOrd="5" destOrd="0" presId="urn:microsoft.com/office/officeart/2016/7/layout/RoundedRectangleTimeline"/>
    <dgm:cxn modelId="{509B5E50-40D7-4DA7-A1A5-DA894F5D9C25}" type="presParOf" srcId="{AB52B3CC-6563-466D-BFC3-9B6B5AFA0881}" destId="{D4F48237-CDA4-4E4F-A39E-8C96B67D3489}" srcOrd="6" destOrd="0" presId="urn:microsoft.com/office/officeart/2016/7/layout/RoundedRectangleTimeline"/>
    <dgm:cxn modelId="{EF7A7461-6D95-4E94-AB63-76EB93A747EC}" type="presParOf" srcId="{D4F48237-CDA4-4E4F-A39E-8C96B67D3489}" destId="{8CD99DB4-5C70-4E6A-A331-1C7FBB955D8B}" srcOrd="0" destOrd="0" presId="urn:microsoft.com/office/officeart/2016/7/layout/RoundedRectangleTimeline"/>
    <dgm:cxn modelId="{B9C96EA9-A1DB-4077-8EF2-A559EF0E08C5}" type="presParOf" srcId="{D4F48237-CDA4-4E4F-A39E-8C96B67D3489}" destId="{4AD9EDDE-F923-46F7-AE33-10BA662ADC43}" srcOrd="1" destOrd="0" presId="urn:microsoft.com/office/officeart/2016/7/layout/RoundedRectangleTimeline"/>
    <dgm:cxn modelId="{2C2ED9A5-B8F0-4FF0-8DAA-9B931EEB34EA}" type="presParOf" srcId="{D4F48237-CDA4-4E4F-A39E-8C96B67D3489}" destId="{4676993C-6FB0-44AA-861C-599A489A2438}" srcOrd="2" destOrd="0" presId="urn:microsoft.com/office/officeart/2016/7/layout/RoundedRectangleTimeline"/>
    <dgm:cxn modelId="{118689FC-E175-466D-A1B2-8F16E69FA7E3}" type="presParOf" srcId="{D4F48237-CDA4-4E4F-A39E-8C96B67D3489}" destId="{5D697FB5-ED57-4A84-A018-735F889DF9B8}" srcOrd="3" destOrd="0" presId="urn:microsoft.com/office/officeart/2016/7/layout/RoundedRectangleTimeline"/>
    <dgm:cxn modelId="{2D5BBC89-88E0-481E-9D6A-4B24BCEAE468}" type="presParOf" srcId="{D4F48237-CDA4-4E4F-A39E-8C96B67D3489}" destId="{32971DCE-450B-42FF-BDD7-14E13BFF2CFB}"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1790021" y="635805"/>
          <a:ext cx="363378" cy="2362175"/>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DATA PRE- PROCESSING</a:t>
          </a:r>
        </a:p>
      </dsp:txBody>
      <dsp:txXfrm rot="5400000">
        <a:off x="808362" y="1652943"/>
        <a:ext cx="2344436" cy="327900"/>
      </dsp:txXfrm>
    </dsp:sp>
    <dsp:sp modelId="{5A1B764B-0DC5-47CD-BDEA-9E67799496EC}">
      <dsp:nvSpPr>
        <dsp:cNvPr id="0" name=""/>
        <dsp:cNvSpPr/>
      </dsp:nvSpPr>
      <dsp:spPr>
        <a:xfrm>
          <a:off x="3231" y="0"/>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Handling Duplicated </a:t>
          </a:r>
        </a:p>
      </dsp:txBody>
      <dsp:txXfrm>
        <a:off x="3231" y="0"/>
        <a:ext cx="3936959" cy="1271825"/>
      </dsp:txXfrm>
    </dsp:sp>
    <dsp:sp modelId="{122B38A3-0442-4747-820C-1F37877E2B0E}">
      <dsp:nvSpPr>
        <dsp:cNvPr id="0" name=""/>
        <dsp:cNvSpPr/>
      </dsp:nvSpPr>
      <dsp:spPr>
        <a:xfrm>
          <a:off x="1971711" y="1344501"/>
          <a:ext cx="0" cy="290702"/>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1935373" y="1271825"/>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3152799" y="1635204"/>
          <a:ext cx="2362175" cy="363378"/>
        </a:xfrm>
        <a:prstGeom prst="rect">
          <a:avLst/>
        </a:prstGeom>
        <a:solidFill>
          <a:schemeClr val="accent1">
            <a:shade val="80000"/>
            <a:hueOff val="148730"/>
            <a:satOff val="-3019"/>
            <a:lumOff val="10226"/>
            <a:alphaOff val="0"/>
          </a:schemeClr>
        </a:solidFill>
        <a:ln w="22225" cap="rnd" cmpd="sng" algn="ctr">
          <a:solidFill>
            <a:schemeClr val="accent1">
              <a:shade val="80000"/>
              <a:hueOff val="148730"/>
              <a:satOff val="-3019"/>
              <a:lumOff val="1022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FEATURE SELECTION &amp; ENGINEERING</a:t>
          </a:r>
        </a:p>
      </dsp:txBody>
      <dsp:txXfrm>
        <a:off x="3152799" y="1635204"/>
        <a:ext cx="2362175" cy="363378"/>
      </dsp:txXfrm>
    </dsp:sp>
    <dsp:sp modelId="{DF65791B-462E-4589-B98D-F60587330CA8}">
      <dsp:nvSpPr>
        <dsp:cNvPr id="0" name=""/>
        <dsp:cNvSpPr/>
      </dsp:nvSpPr>
      <dsp:spPr>
        <a:xfrm>
          <a:off x="2365407" y="2361961"/>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Standardization numerical variable </a:t>
          </a:r>
          <a:br>
            <a:rPr lang="en-US" sz="1100" kern="1200" dirty="0"/>
          </a:br>
          <a:r>
            <a:rPr lang="en-US" sz="1100" kern="1200" dirty="0"/>
            <a:t>&amp; Checking </a:t>
          </a:r>
          <a:r>
            <a:rPr lang="en-US" sz="1100" kern="1200" dirty="0" err="1"/>
            <a:t>Multiollinearity</a:t>
          </a:r>
          <a:endParaRPr lang="en-US" sz="1100" kern="1200" dirty="0"/>
        </a:p>
      </dsp:txBody>
      <dsp:txXfrm>
        <a:off x="2365407" y="2361961"/>
        <a:ext cx="3936959" cy="1271825"/>
      </dsp:txXfrm>
    </dsp:sp>
    <dsp:sp modelId="{DBA410EB-5F61-4F46-92D9-C5B0AA59EE15}">
      <dsp:nvSpPr>
        <dsp:cNvPr id="0" name=""/>
        <dsp:cNvSpPr/>
      </dsp:nvSpPr>
      <dsp:spPr>
        <a:xfrm>
          <a:off x="4333887" y="1998582"/>
          <a:ext cx="0" cy="290702"/>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4297549" y="2289285"/>
          <a:ext cx="72675" cy="72675"/>
        </a:xfrm>
        <a:prstGeom prst="ellipse">
          <a:avLst/>
        </a:prstGeom>
        <a:solidFill>
          <a:schemeClr val="accent1">
            <a:shade val="80000"/>
            <a:hueOff val="148730"/>
            <a:satOff val="-3019"/>
            <a:lumOff val="1022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a:off x="5514975" y="1635204"/>
          <a:ext cx="2362175" cy="363378"/>
        </a:xfrm>
        <a:prstGeom prst="rect">
          <a:avLst/>
        </a:prstGeom>
        <a:solidFill>
          <a:schemeClr val="accent1">
            <a:shade val="80000"/>
            <a:hueOff val="297461"/>
            <a:satOff val="-6039"/>
            <a:lumOff val="20451"/>
            <a:alphaOff val="0"/>
          </a:schemeClr>
        </a:solidFill>
        <a:ln w="22225" cap="rnd" cmpd="sng" algn="ctr">
          <a:solidFill>
            <a:schemeClr val="accent1">
              <a:shade val="80000"/>
              <a:hueOff val="297461"/>
              <a:satOff val="-6039"/>
              <a:lumOff val="2045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SPLIT DATA</a:t>
          </a:r>
        </a:p>
      </dsp:txBody>
      <dsp:txXfrm>
        <a:off x="5514975" y="1635204"/>
        <a:ext cx="2362175" cy="363378"/>
      </dsp:txXfrm>
    </dsp:sp>
    <dsp:sp modelId="{B4723E2A-4FF1-452A-BD25-8EC364F15A6F}">
      <dsp:nvSpPr>
        <dsp:cNvPr id="0" name=""/>
        <dsp:cNvSpPr/>
      </dsp:nvSpPr>
      <dsp:spPr>
        <a:xfrm>
          <a:off x="4727583" y="0"/>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80% Train : 20% Split</a:t>
          </a:r>
        </a:p>
      </dsp:txBody>
      <dsp:txXfrm>
        <a:off x="4727583" y="0"/>
        <a:ext cx="3936959" cy="1271825"/>
      </dsp:txXfrm>
    </dsp:sp>
    <dsp:sp modelId="{440E9361-37D2-4157-AF38-7B49AD23708B}">
      <dsp:nvSpPr>
        <dsp:cNvPr id="0" name=""/>
        <dsp:cNvSpPr/>
      </dsp:nvSpPr>
      <dsp:spPr>
        <a:xfrm>
          <a:off x="6696062" y="1344501"/>
          <a:ext cx="0" cy="290702"/>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6659725" y="1271825"/>
          <a:ext cx="72675" cy="72675"/>
        </a:xfrm>
        <a:prstGeom prst="ellipse">
          <a:avLst/>
        </a:prstGeom>
        <a:solidFill>
          <a:schemeClr val="accent1">
            <a:shade val="80000"/>
            <a:hueOff val="297461"/>
            <a:satOff val="-6039"/>
            <a:lumOff val="2045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D99DB4-5C70-4E6A-A331-1C7FBB955D8B}">
      <dsp:nvSpPr>
        <dsp:cNvPr id="0" name=""/>
        <dsp:cNvSpPr/>
      </dsp:nvSpPr>
      <dsp:spPr>
        <a:xfrm rot="5400000">
          <a:off x="8876549" y="635805"/>
          <a:ext cx="363378" cy="2362175"/>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OUTLING HANDLING</a:t>
          </a:r>
        </a:p>
      </dsp:txBody>
      <dsp:txXfrm rot="-5400000">
        <a:off x="7877151" y="1652943"/>
        <a:ext cx="2344436" cy="327900"/>
      </dsp:txXfrm>
    </dsp:sp>
    <dsp:sp modelId="{4AD9EDDE-F923-46F7-AE33-10BA662ADC43}">
      <dsp:nvSpPr>
        <dsp:cNvPr id="0" name=""/>
        <dsp:cNvSpPr/>
      </dsp:nvSpPr>
      <dsp:spPr>
        <a:xfrm>
          <a:off x="7089758" y="2361961"/>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IQR Method</a:t>
          </a:r>
          <a:endParaRPr lang="en-ID" sz="1100" kern="1200" dirty="0"/>
        </a:p>
      </dsp:txBody>
      <dsp:txXfrm>
        <a:off x="7089758" y="2361961"/>
        <a:ext cx="3936959" cy="1271825"/>
      </dsp:txXfrm>
    </dsp:sp>
    <dsp:sp modelId="{4676993C-6FB0-44AA-861C-599A489A2438}">
      <dsp:nvSpPr>
        <dsp:cNvPr id="0" name=""/>
        <dsp:cNvSpPr/>
      </dsp:nvSpPr>
      <dsp:spPr>
        <a:xfrm>
          <a:off x="9058238" y="1998582"/>
          <a:ext cx="0" cy="290702"/>
        </a:xfrm>
        <a:prstGeom prst="line">
          <a:avLst/>
        </a:prstGeom>
        <a:noFill/>
        <a:ln w="12700" cap="rnd" cmpd="sng" algn="ctr">
          <a:solidFill>
            <a:schemeClr val="accent1">
              <a:shade val="90000"/>
              <a:hueOff val="446212"/>
              <a:satOff val="-8602"/>
              <a:lumOff val="28124"/>
              <a:alphaOff val="0"/>
            </a:schemeClr>
          </a:solidFill>
          <a:prstDash val="dash"/>
        </a:ln>
        <a:effectLst/>
      </dsp:spPr>
      <dsp:style>
        <a:lnRef idx="1">
          <a:scrgbClr r="0" g="0" b="0"/>
        </a:lnRef>
        <a:fillRef idx="0">
          <a:scrgbClr r="0" g="0" b="0"/>
        </a:fillRef>
        <a:effectRef idx="0">
          <a:scrgbClr r="0" g="0" b="0"/>
        </a:effectRef>
        <a:fontRef idx="minor"/>
      </dsp:style>
    </dsp:sp>
    <dsp:sp modelId="{5D697FB5-ED57-4A84-A018-735F889DF9B8}">
      <dsp:nvSpPr>
        <dsp:cNvPr id="0" name=""/>
        <dsp:cNvSpPr/>
      </dsp:nvSpPr>
      <dsp:spPr>
        <a:xfrm>
          <a:off x="9021900" y="2289285"/>
          <a:ext cx="72675" cy="72675"/>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88FC3-000F-46BF-B96A-205CE0203F5E}" type="datetimeFigureOut">
              <a:rPr lang="en-ID" smtClean="0"/>
              <a:t>01/11/2025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183E3-A270-4F48-BF59-0DA67D0B23A6}" type="slidenum">
              <a:rPr lang="en-ID" smtClean="0"/>
              <a:t>‹#›</a:t>
            </a:fld>
            <a:endParaRPr lang="en-ID"/>
          </a:p>
        </p:txBody>
      </p:sp>
    </p:spTree>
    <p:extLst>
      <p:ext uri="{BB962C8B-B14F-4D97-AF65-F5344CB8AC3E}">
        <p14:creationId xmlns:p14="http://schemas.microsoft.com/office/powerpoint/2010/main" val="184295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591183E3-A270-4F48-BF59-0DA67D0B23A6}" type="slidenum">
              <a:rPr lang="en-ID" smtClean="0"/>
              <a:t>3</a:t>
            </a:fld>
            <a:endParaRPr lang="en-ID"/>
          </a:p>
        </p:txBody>
      </p:sp>
    </p:spTree>
    <p:extLst>
      <p:ext uri="{BB962C8B-B14F-4D97-AF65-F5344CB8AC3E}">
        <p14:creationId xmlns:p14="http://schemas.microsoft.com/office/powerpoint/2010/main" val="2658446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linkedin.com/in/near-lambardawati-b23359186"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hyperlink" Target="https://share.streamlit.io/user/nearl-2711" TargetMode="External"/><Relationship Id="rId4" Type="http://schemas.openxmlformats.org/officeDocument/2006/relationships/hyperlink" Target="https://github.com/NearL-2711"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813392"/>
            <a:ext cx="10993549" cy="1475013"/>
          </a:xfrm>
        </p:spPr>
        <p:txBody>
          <a:bodyPr>
            <a:normAutofit/>
          </a:bodyPr>
          <a:lstStyle/>
          <a:p>
            <a:r>
              <a:rPr lang="en-US" b="1" dirty="0"/>
              <a:t>Understanding Key Factors That Influence Salary</a:t>
            </a: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392616"/>
            <a:ext cx="10993546" cy="468233"/>
          </a:xfrm>
        </p:spPr>
        <p:txBody>
          <a:bodyPr>
            <a:noAutofit/>
          </a:bodyPr>
          <a:lstStyle/>
          <a:p>
            <a:r>
              <a:rPr lang="en-US" b="1" dirty="0"/>
              <a:t>Presented By : Near Lambardawati</a:t>
            </a:r>
            <a:br>
              <a:rPr lang="en-US" b="1" dirty="0"/>
            </a:br>
            <a:r>
              <a:rPr lang="en-US" b="1" dirty="0"/>
              <a:t>Final Project – Data Scientist &amp; Analyst Bootcamp 2025 </a:t>
            </a:r>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F440E4D7-9FF7-2058-50DF-35C72D946195}"/>
              </a:ext>
            </a:extLst>
          </p:cNvPr>
          <p:cNvPicPr>
            <a:picLocks noChangeAspect="1"/>
          </p:cNvPicPr>
          <p:nvPr/>
        </p:nvPicPr>
        <p:blipFill>
          <a:blip r:embed="rId3"/>
          <a:srcRect l="2205" t="27240" r="2389" b="29790"/>
          <a:stretch>
            <a:fillRect/>
          </a:stretch>
        </p:blipFill>
        <p:spPr>
          <a:xfrm>
            <a:off x="9090757" y="2230693"/>
            <a:ext cx="2654710" cy="79208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950DF-34CD-F06D-AD44-F40DDD647629}"/>
              </a:ext>
            </a:extLst>
          </p:cNvPr>
          <p:cNvSpPr>
            <a:spLocks noGrp="1"/>
          </p:cNvSpPr>
          <p:nvPr>
            <p:ph type="title"/>
          </p:nvPr>
        </p:nvSpPr>
        <p:spPr/>
        <p:txBody>
          <a:bodyPr>
            <a:normAutofit/>
          </a:bodyPr>
          <a:lstStyle/>
          <a:p>
            <a:r>
              <a:rPr lang="en-US" sz="3200" dirty="0"/>
              <a:t>TABLE OF CONTENT</a:t>
            </a:r>
            <a:endParaRPr lang="en-ID" sz="3200" dirty="0"/>
          </a:p>
        </p:txBody>
      </p:sp>
      <p:sp>
        <p:nvSpPr>
          <p:cNvPr id="3" name="Content Placeholder 2">
            <a:extLst>
              <a:ext uri="{FF2B5EF4-FFF2-40B4-BE49-F238E27FC236}">
                <a16:creationId xmlns:a16="http://schemas.microsoft.com/office/drawing/2014/main" id="{7B588F3A-099F-781F-FAC7-310A7E46F41B}"/>
              </a:ext>
            </a:extLst>
          </p:cNvPr>
          <p:cNvSpPr>
            <a:spLocks noGrp="1"/>
          </p:cNvSpPr>
          <p:nvPr>
            <p:ph idx="1"/>
          </p:nvPr>
        </p:nvSpPr>
        <p:spPr>
          <a:xfrm>
            <a:off x="581192" y="2035277"/>
            <a:ext cx="11029615" cy="3940073"/>
          </a:xfrm>
        </p:spPr>
        <p:txBody>
          <a:bodyPr>
            <a:normAutofit fontScale="92500" lnSpcReduction="10000"/>
          </a:bodyPr>
          <a:lstStyle/>
          <a:p>
            <a:r>
              <a:rPr lang="en-US" sz="2800" dirty="0"/>
              <a:t>INTRODUCTION</a:t>
            </a:r>
          </a:p>
          <a:p>
            <a:r>
              <a:rPr lang="en-US" sz="2800" dirty="0"/>
              <a:t>PROJECT STATEMENT</a:t>
            </a:r>
          </a:p>
          <a:p>
            <a:r>
              <a:rPr lang="en-US" sz="2800" dirty="0"/>
              <a:t>OBJECTIVE OF STUDY </a:t>
            </a:r>
          </a:p>
          <a:p>
            <a:r>
              <a:rPr lang="en-US" sz="2800" dirty="0"/>
              <a:t>DATA PREPATION</a:t>
            </a:r>
          </a:p>
          <a:p>
            <a:r>
              <a:rPr lang="en-US" sz="2800" dirty="0"/>
              <a:t>EXPLORATORY DATA ANALYSIS</a:t>
            </a:r>
          </a:p>
          <a:p>
            <a:r>
              <a:rPr lang="en-US" sz="2800" dirty="0"/>
              <a:t>MACHINE LEARNING</a:t>
            </a:r>
          </a:p>
          <a:p>
            <a:r>
              <a:rPr lang="en-US" sz="2800" dirty="0"/>
              <a:t>FINAL ACTION PLAN</a:t>
            </a:r>
          </a:p>
        </p:txBody>
      </p:sp>
    </p:spTree>
    <p:extLst>
      <p:ext uri="{BB962C8B-B14F-4D97-AF65-F5344CB8AC3E}">
        <p14:creationId xmlns:p14="http://schemas.microsoft.com/office/powerpoint/2010/main" val="1197094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50E89-A46B-69EB-4F24-D0B4A0CAA6AE}"/>
              </a:ext>
            </a:extLst>
          </p:cNvPr>
          <p:cNvSpPr>
            <a:spLocks noGrp="1"/>
          </p:cNvSpPr>
          <p:nvPr>
            <p:ph type="title"/>
          </p:nvPr>
        </p:nvSpPr>
        <p:spPr/>
        <p:txBody>
          <a:bodyPr>
            <a:normAutofit/>
          </a:bodyPr>
          <a:lstStyle/>
          <a:p>
            <a:r>
              <a:rPr lang="en-US" sz="3200" dirty="0"/>
              <a:t>INTRODUCTION</a:t>
            </a:r>
            <a:endParaRPr lang="en-ID" sz="3200" dirty="0"/>
          </a:p>
        </p:txBody>
      </p:sp>
      <p:sp>
        <p:nvSpPr>
          <p:cNvPr id="3" name="Content Placeholder 2">
            <a:extLst>
              <a:ext uri="{FF2B5EF4-FFF2-40B4-BE49-F238E27FC236}">
                <a16:creationId xmlns:a16="http://schemas.microsoft.com/office/drawing/2014/main" id="{0541BFE5-DF42-0A13-F4C6-2420DA1BD34C}"/>
              </a:ext>
            </a:extLst>
          </p:cNvPr>
          <p:cNvSpPr>
            <a:spLocks noGrp="1"/>
          </p:cNvSpPr>
          <p:nvPr>
            <p:ph sz="half" idx="1"/>
          </p:nvPr>
        </p:nvSpPr>
        <p:spPr>
          <a:xfrm>
            <a:off x="581193" y="2064775"/>
            <a:ext cx="5194767" cy="3796276"/>
          </a:xfrm>
        </p:spPr>
        <p:txBody>
          <a:bodyPr/>
          <a:lstStyle/>
          <a:p>
            <a:pPr marL="0" indent="0">
              <a:buNone/>
            </a:pPr>
            <a:r>
              <a:rPr lang="en-US" sz="2000" b="1" dirty="0"/>
              <a:t>NEAR LAMBARDAWATI</a:t>
            </a:r>
          </a:p>
          <a:p>
            <a:r>
              <a:rPr lang="en-ID" dirty="0"/>
              <a:t>DIBIMBING.ID (MAY – NOV 2025)</a:t>
            </a:r>
          </a:p>
          <a:p>
            <a:pPr lvl="1"/>
            <a:r>
              <a:rPr lang="en-ID" dirty="0"/>
              <a:t>DATA SCIENCE BOOTCAMP BATCH 34+ </a:t>
            </a:r>
          </a:p>
          <a:p>
            <a:pPr lvl="1"/>
            <a:r>
              <a:rPr lang="en-ID" dirty="0"/>
              <a:t>(FOCUS ON PYTHON, SQL, POWER BI, TABLEAU , MACHINE LEARNING</a:t>
            </a:r>
          </a:p>
          <a:p>
            <a:r>
              <a:rPr lang="en-ID" dirty="0"/>
              <a:t>PERBANAS UNIVERSITY (2019-2021)</a:t>
            </a:r>
          </a:p>
          <a:p>
            <a:pPr lvl="1"/>
            <a:r>
              <a:rPr lang="en-ID" dirty="0"/>
              <a:t>BACHELOR’S DEGREE IN ACCOUNTANCY </a:t>
            </a:r>
          </a:p>
          <a:p>
            <a:r>
              <a:rPr lang="en-ID" dirty="0"/>
              <a:t>UNIVERSITAS PADJAJARAN (2012-2015)</a:t>
            </a:r>
          </a:p>
          <a:p>
            <a:pPr lvl="1"/>
            <a:r>
              <a:rPr lang="en-ID" dirty="0"/>
              <a:t>DIPLOMA 3 ADM. PERPAJAKAN</a:t>
            </a:r>
          </a:p>
        </p:txBody>
      </p:sp>
      <p:sp>
        <p:nvSpPr>
          <p:cNvPr id="4" name="Content Placeholder 3">
            <a:extLst>
              <a:ext uri="{FF2B5EF4-FFF2-40B4-BE49-F238E27FC236}">
                <a16:creationId xmlns:a16="http://schemas.microsoft.com/office/drawing/2014/main" id="{AEFA46AE-8491-4AF8-44E5-CE871ECBED2D}"/>
              </a:ext>
            </a:extLst>
          </p:cNvPr>
          <p:cNvSpPr>
            <a:spLocks noGrp="1"/>
          </p:cNvSpPr>
          <p:nvPr>
            <p:ph sz="half" idx="2"/>
          </p:nvPr>
        </p:nvSpPr>
        <p:spPr/>
        <p:txBody>
          <a:bodyPr/>
          <a:lstStyle/>
          <a:p>
            <a:r>
              <a:rPr lang="en-US" dirty="0"/>
              <a:t>LINKED IN : </a:t>
            </a:r>
            <a:r>
              <a:rPr lang="en-ID" dirty="0">
                <a:hlinkClick r:id="rId3"/>
              </a:rPr>
              <a:t>www.linkedin.com/in/near-lambardawati-b23359186</a:t>
            </a:r>
            <a:endParaRPr lang="en-ID" dirty="0"/>
          </a:p>
          <a:p>
            <a:r>
              <a:rPr lang="en-ID" dirty="0"/>
              <a:t>GITHUB : </a:t>
            </a:r>
            <a:r>
              <a:rPr lang="en-ID" dirty="0">
                <a:hlinkClick r:id="rId4"/>
              </a:rPr>
              <a:t>HERE</a:t>
            </a:r>
            <a:endParaRPr lang="en-ID" dirty="0"/>
          </a:p>
          <a:p>
            <a:r>
              <a:rPr lang="en-ID" dirty="0"/>
              <a:t>STREAMLIT : </a:t>
            </a:r>
            <a:r>
              <a:rPr lang="en-ID" dirty="0">
                <a:hlinkClick r:id="rId5"/>
              </a:rPr>
              <a:t>HERE</a:t>
            </a:r>
            <a:endParaRPr lang="en-ID" dirty="0"/>
          </a:p>
          <a:p>
            <a:r>
              <a:rPr lang="en-ID" dirty="0"/>
              <a:t>As SPV OPS SUPPORT in PT. ERAJAYA SWASEMBADA </a:t>
            </a:r>
            <a:r>
              <a:rPr lang="en-US" dirty="0"/>
              <a:t> </a:t>
            </a:r>
            <a:endParaRPr lang="en-ID" dirty="0"/>
          </a:p>
        </p:txBody>
      </p:sp>
    </p:spTree>
    <p:extLst>
      <p:ext uri="{BB962C8B-B14F-4D97-AF65-F5344CB8AC3E}">
        <p14:creationId xmlns:p14="http://schemas.microsoft.com/office/powerpoint/2010/main" val="3225895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F5E5-4309-7363-A1E2-4F624DF6FC70}"/>
              </a:ext>
            </a:extLst>
          </p:cNvPr>
          <p:cNvSpPr>
            <a:spLocks noGrp="1"/>
          </p:cNvSpPr>
          <p:nvPr>
            <p:ph type="title"/>
          </p:nvPr>
        </p:nvSpPr>
        <p:spPr/>
        <p:txBody>
          <a:bodyPr>
            <a:normAutofit/>
          </a:bodyPr>
          <a:lstStyle/>
          <a:p>
            <a:r>
              <a:rPr lang="en-US" sz="3200" dirty="0"/>
              <a:t>PROJECT STATEMENT</a:t>
            </a:r>
            <a:endParaRPr lang="en-ID" sz="3200" dirty="0"/>
          </a:p>
        </p:txBody>
      </p:sp>
      <p:sp>
        <p:nvSpPr>
          <p:cNvPr id="3" name="Content Placeholder 2">
            <a:extLst>
              <a:ext uri="{FF2B5EF4-FFF2-40B4-BE49-F238E27FC236}">
                <a16:creationId xmlns:a16="http://schemas.microsoft.com/office/drawing/2014/main" id="{24BEC19A-42C3-DB71-1335-D09382730DD6}"/>
              </a:ext>
            </a:extLst>
          </p:cNvPr>
          <p:cNvSpPr>
            <a:spLocks noGrp="1"/>
          </p:cNvSpPr>
          <p:nvPr>
            <p:ph idx="1"/>
          </p:nvPr>
        </p:nvSpPr>
        <p:spPr/>
        <p:txBody>
          <a:bodyPr>
            <a:normAutofit/>
          </a:bodyPr>
          <a:lstStyle/>
          <a:p>
            <a:pPr marL="0" indent="0">
              <a:buNone/>
            </a:pPr>
            <a:r>
              <a:rPr lang="en-US" sz="2400" dirty="0"/>
              <a:t>Why is Salary Analysis Important?</a:t>
            </a:r>
          </a:p>
          <a:p>
            <a:r>
              <a:rPr lang="en-US" sz="2400" dirty="0"/>
              <a:t>Many companies struggle to determine a fair salary range.</a:t>
            </a:r>
          </a:p>
          <a:p>
            <a:r>
              <a:rPr lang="en-US" sz="2400" dirty="0"/>
              <a:t>Candidates with similar experience may have different salaries depending on their position, education, and gender.</a:t>
            </a:r>
          </a:p>
          <a:p>
            <a:r>
              <a:rPr lang="en-US" sz="2400" dirty="0"/>
              <a:t>HR needs a data-driven approach, not just intuition.</a:t>
            </a:r>
          </a:p>
          <a:p>
            <a:pPr marL="0" indent="0">
              <a:buNone/>
            </a:pPr>
            <a:endParaRPr lang="en-ID" sz="2400" dirty="0"/>
          </a:p>
        </p:txBody>
      </p:sp>
    </p:spTree>
    <p:extLst>
      <p:ext uri="{BB962C8B-B14F-4D97-AF65-F5344CB8AC3E}">
        <p14:creationId xmlns:p14="http://schemas.microsoft.com/office/powerpoint/2010/main" val="1553401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F33F-053C-D211-1AA6-C4E036C77BB8}"/>
              </a:ext>
            </a:extLst>
          </p:cNvPr>
          <p:cNvSpPr>
            <a:spLocks noGrp="1"/>
          </p:cNvSpPr>
          <p:nvPr>
            <p:ph type="title"/>
          </p:nvPr>
        </p:nvSpPr>
        <p:spPr/>
        <p:txBody>
          <a:bodyPr>
            <a:normAutofit/>
          </a:bodyPr>
          <a:lstStyle/>
          <a:p>
            <a:r>
              <a:rPr lang="en-US" sz="3200" dirty="0"/>
              <a:t>objective</a:t>
            </a:r>
            <a:endParaRPr lang="en-ID" sz="3200" dirty="0"/>
          </a:p>
        </p:txBody>
      </p:sp>
      <p:sp>
        <p:nvSpPr>
          <p:cNvPr id="3" name="Content Placeholder 2">
            <a:extLst>
              <a:ext uri="{FF2B5EF4-FFF2-40B4-BE49-F238E27FC236}">
                <a16:creationId xmlns:a16="http://schemas.microsoft.com/office/drawing/2014/main" id="{A5D08DA5-9064-CB24-C12F-7C270DFDDCCE}"/>
              </a:ext>
            </a:extLst>
          </p:cNvPr>
          <p:cNvSpPr>
            <a:spLocks noGrp="1"/>
          </p:cNvSpPr>
          <p:nvPr>
            <p:ph idx="1"/>
          </p:nvPr>
        </p:nvSpPr>
        <p:spPr/>
        <p:txBody>
          <a:bodyPr>
            <a:normAutofit/>
          </a:bodyPr>
          <a:lstStyle/>
          <a:p>
            <a:r>
              <a:rPr lang="en-US" sz="2400" dirty="0"/>
              <a:t>Identifying the key factors that influence salary (experience, education, job title, gender).</a:t>
            </a:r>
          </a:p>
          <a:p>
            <a:r>
              <a:rPr lang="en-US" sz="2400" dirty="0"/>
              <a:t>Helping HR understand the relationship between these variables.</a:t>
            </a:r>
          </a:p>
          <a:p>
            <a:r>
              <a:rPr lang="en-US" sz="2400" dirty="0"/>
              <a:t>Building a data-driven salary prediction model.</a:t>
            </a:r>
          </a:p>
          <a:p>
            <a:pPr marL="0" indent="0">
              <a:buNone/>
            </a:pPr>
            <a:endParaRPr lang="en-ID" sz="2400" dirty="0"/>
          </a:p>
        </p:txBody>
      </p:sp>
    </p:spTree>
    <p:extLst>
      <p:ext uri="{BB962C8B-B14F-4D97-AF65-F5344CB8AC3E}">
        <p14:creationId xmlns:p14="http://schemas.microsoft.com/office/powerpoint/2010/main" val="318023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097D7-A8B9-E951-4A65-5946D90F4173}"/>
              </a:ext>
            </a:extLst>
          </p:cNvPr>
          <p:cNvSpPr>
            <a:spLocks noGrp="1"/>
          </p:cNvSpPr>
          <p:nvPr>
            <p:ph type="title"/>
          </p:nvPr>
        </p:nvSpPr>
        <p:spPr/>
        <p:txBody>
          <a:bodyPr/>
          <a:lstStyle/>
          <a:p>
            <a:r>
              <a:rPr lang="en-US" dirty="0"/>
              <a:t>Data preparation</a:t>
            </a:r>
            <a:endParaRPr lang="en-ID" dirty="0"/>
          </a:p>
        </p:txBody>
      </p:sp>
      <p:sp>
        <p:nvSpPr>
          <p:cNvPr id="3" name="Content Placeholder 2">
            <a:extLst>
              <a:ext uri="{FF2B5EF4-FFF2-40B4-BE49-F238E27FC236}">
                <a16:creationId xmlns:a16="http://schemas.microsoft.com/office/drawing/2014/main" id="{1184304F-6F5A-1369-44EE-4E4E21D268AE}"/>
              </a:ext>
            </a:extLst>
          </p:cNvPr>
          <p:cNvSpPr>
            <a:spLocks noGrp="1"/>
          </p:cNvSpPr>
          <p:nvPr>
            <p:ph sz="half" idx="1"/>
          </p:nvPr>
        </p:nvSpPr>
        <p:spPr>
          <a:xfrm>
            <a:off x="581193" y="1897627"/>
            <a:ext cx="5194767" cy="3963424"/>
          </a:xfrm>
        </p:spPr>
        <p:txBody>
          <a:bodyPr>
            <a:normAutofit fontScale="92500" lnSpcReduction="10000"/>
          </a:bodyPr>
          <a:lstStyle/>
          <a:p>
            <a:pPr marL="0" indent="0">
              <a:buNone/>
            </a:pPr>
            <a:r>
              <a:rPr lang="en-US" b="1" dirty="0"/>
              <a:t>DATA SET SUMMARIES</a:t>
            </a:r>
          </a:p>
          <a:p>
            <a:r>
              <a:rPr lang="en-US" dirty="0"/>
              <a:t>6,704 rows and 6 columns</a:t>
            </a:r>
          </a:p>
          <a:p>
            <a:r>
              <a:rPr lang="en-US" b="1" dirty="0"/>
              <a:t>3 numerical features</a:t>
            </a:r>
            <a:r>
              <a:rPr lang="en-US" dirty="0"/>
              <a:t> and </a:t>
            </a:r>
            <a:r>
              <a:rPr lang="en-US" b="1" dirty="0"/>
              <a:t>3 categorical features</a:t>
            </a:r>
          </a:p>
          <a:p>
            <a:r>
              <a:rPr lang="en-US" b="1" dirty="0"/>
              <a:t>4,911 duplicate rows detected</a:t>
            </a:r>
            <a:br>
              <a:rPr lang="en-US" dirty="0"/>
            </a:br>
            <a:r>
              <a:rPr lang="en-US" dirty="0"/>
              <a:t>→ Duplicates removed to ensure data quality</a:t>
            </a:r>
          </a:p>
          <a:p>
            <a:r>
              <a:rPr lang="en-ID" b="1" dirty="0"/>
              <a:t>No missing values</a:t>
            </a:r>
            <a:r>
              <a:rPr lang="en-ID" dirty="0"/>
              <a:t> found</a:t>
            </a:r>
          </a:p>
          <a:p>
            <a:r>
              <a:rPr lang="en-US" b="1" dirty="0"/>
              <a:t>Outliers identified and handled</a:t>
            </a:r>
            <a:br>
              <a:rPr lang="en-US" dirty="0"/>
            </a:br>
            <a:r>
              <a:rPr lang="en-US" dirty="0"/>
              <a:t>→ No data removed during outlier treatment</a:t>
            </a:r>
            <a:endParaRPr lang="en-ID" dirty="0"/>
          </a:p>
          <a:p>
            <a:r>
              <a:rPr lang="en-US" dirty="0"/>
              <a:t>Category </a:t>
            </a:r>
            <a:r>
              <a:rPr lang="en-US" b="1" dirty="0"/>
              <a:t>“Other” standardized using mean encoding</a:t>
            </a:r>
            <a:br>
              <a:rPr lang="en-US" dirty="0"/>
            </a:br>
            <a:r>
              <a:rPr lang="en-US" dirty="0"/>
              <a:t>→ Ensures no “Other” category remains in Gender</a:t>
            </a:r>
          </a:p>
          <a:p>
            <a:r>
              <a:rPr lang="en-US" b="1" dirty="0"/>
              <a:t>Job Title</a:t>
            </a:r>
            <a:r>
              <a:rPr lang="en-US" dirty="0"/>
              <a:t> and </a:t>
            </a:r>
            <a:r>
              <a:rPr lang="en-US" b="1" dirty="0"/>
              <a:t>Education Level</a:t>
            </a:r>
            <a:r>
              <a:rPr lang="en-US" dirty="0"/>
              <a:t> standardized</a:t>
            </a:r>
            <a:br>
              <a:rPr lang="en-US" dirty="0"/>
            </a:br>
            <a:r>
              <a:rPr lang="en-US" dirty="0"/>
              <a:t>→ To ensure consistent category naming</a:t>
            </a:r>
          </a:p>
        </p:txBody>
      </p:sp>
      <p:sp>
        <p:nvSpPr>
          <p:cNvPr id="4" name="Content Placeholder 3">
            <a:extLst>
              <a:ext uri="{FF2B5EF4-FFF2-40B4-BE49-F238E27FC236}">
                <a16:creationId xmlns:a16="http://schemas.microsoft.com/office/drawing/2014/main" id="{C322C38A-06DC-89C5-A796-762FE384E1AD}"/>
              </a:ext>
            </a:extLst>
          </p:cNvPr>
          <p:cNvSpPr>
            <a:spLocks noGrp="1"/>
          </p:cNvSpPr>
          <p:nvPr>
            <p:ph sz="half" idx="2"/>
          </p:nvPr>
        </p:nvSpPr>
        <p:spPr>
          <a:xfrm>
            <a:off x="6416039" y="1897627"/>
            <a:ext cx="5194769" cy="3963424"/>
          </a:xfrm>
        </p:spPr>
        <p:txBody>
          <a:bodyPr>
            <a:normAutofit fontScale="92500" lnSpcReduction="10000"/>
          </a:bodyPr>
          <a:lstStyle/>
          <a:p>
            <a:pPr marL="0" indent="0">
              <a:buNone/>
            </a:pPr>
            <a:r>
              <a:rPr lang="en-ID" b="1" dirty="0"/>
              <a:t>FEATURE GROUP</a:t>
            </a:r>
          </a:p>
          <a:p>
            <a:pPr marL="0" indent="0">
              <a:buNone/>
            </a:pPr>
            <a:r>
              <a:rPr lang="en-US" dirty="0"/>
              <a:t>To better understand the factors that influence salary,  organized the dataset into several feature groups.</a:t>
            </a:r>
            <a:endParaRPr lang="en-ID" b="1" dirty="0"/>
          </a:p>
          <a:p>
            <a:r>
              <a:rPr lang="en-ID" dirty="0"/>
              <a:t>Demographic Features </a:t>
            </a:r>
            <a:br>
              <a:rPr lang="en-ID" dirty="0"/>
            </a:br>
            <a:r>
              <a:rPr lang="en-US" dirty="0"/>
              <a:t>→ Age &amp; Gender</a:t>
            </a:r>
            <a:endParaRPr lang="en-ID" dirty="0"/>
          </a:p>
          <a:p>
            <a:r>
              <a:rPr lang="en-ID" dirty="0"/>
              <a:t>Professional / Career Features</a:t>
            </a:r>
            <a:br>
              <a:rPr lang="en-ID" dirty="0"/>
            </a:br>
            <a:r>
              <a:rPr lang="en-US" dirty="0"/>
              <a:t>→ </a:t>
            </a:r>
            <a:r>
              <a:rPr lang="en-ID" dirty="0"/>
              <a:t>Years of Experience &amp; Job Title</a:t>
            </a:r>
          </a:p>
          <a:p>
            <a:r>
              <a:rPr lang="en-ID" dirty="0"/>
              <a:t>Education Features</a:t>
            </a:r>
            <a:br>
              <a:rPr lang="en-ID" dirty="0"/>
            </a:br>
            <a:r>
              <a:rPr lang="en-US" dirty="0"/>
              <a:t>→ </a:t>
            </a:r>
            <a:r>
              <a:rPr lang="en-ID" dirty="0"/>
              <a:t>Education Level</a:t>
            </a:r>
          </a:p>
          <a:p>
            <a:r>
              <a:rPr lang="en-ID" dirty="0"/>
              <a:t>Target Variable</a:t>
            </a:r>
            <a:br>
              <a:rPr lang="en-ID" dirty="0"/>
            </a:br>
            <a:r>
              <a:rPr lang="en-US" dirty="0"/>
              <a:t>→ </a:t>
            </a:r>
            <a:r>
              <a:rPr lang="en-ID" dirty="0"/>
              <a:t>Salary</a:t>
            </a:r>
          </a:p>
          <a:p>
            <a:endParaRPr lang="en-ID" b="1" dirty="0"/>
          </a:p>
        </p:txBody>
      </p:sp>
    </p:spTree>
    <p:extLst>
      <p:ext uri="{BB962C8B-B14F-4D97-AF65-F5344CB8AC3E}">
        <p14:creationId xmlns:p14="http://schemas.microsoft.com/office/powerpoint/2010/main" val="3172101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D9849E-68A5-54F9-2FDE-2563D5325448}"/>
              </a:ext>
            </a:extLst>
          </p:cNvPr>
          <p:cNvSpPr>
            <a:spLocks noGrp="1"/>
          </p:cNvSpPr>
          <p:nvPr>
            <p:ph type="title"/>
          </p:nvPr>
        </p:nvSpPr>
        <p:spPr/>
        <p:txBody>
          <a:bodyPr>
            <a:normAutofit/>
          </a:bodyPr>
          <a:lstStyle/>
          <a:p>
            <a:r>
              <a:rPr lang="en-US" sz="3200" dirty="0"/>
              <a:t>KEY FACTOR INFLUENCE SALARY? </a:t>
            </a:r>
            <a:endParaRPr lang="en-ID" sz="3200" dirty="0"/>
          </a:p>
        </p:txBody>
      </p:sp>
      <p:pic>
        <p:nvPicPr>
          <p:cNvPr id="9" name="Content Placeholder 8">
            <a:extLst>
              <a:ext uri="{FF2B5EF4-FFF2-40B4-BE49-F238E27FC236}">
                <a16:creationId xmlns:a16="http://schemas.microsoft.com/office/drawing/2014/main" id="{E82906B7-7626-7AD5-D0B7-65814ADDC842}"/>
              </a:ext>
            </a:extLst>
          </p:cNvPr>
          <p:cNvPicPr>
            <a:picLocks noGrp="1" noChangeAspect="1"/>
          </p:cNvPicPr>
          <p:nvPr>
            <p:ph sz="half" idx="1"/>
          </p:nvPr>
        </p:nvPicPr>
        <p:blipFill>
          <a:blip r:embed="rId2"/>
          <a:stretch>
            <a:fillRect/>
          </a:stretch>
        </p:blipFill>
        <p:spPr>
          <a:xfrm>
            <a:off x="682002" y="2228003"/>
            <a:ext cx="4927591" cy="3534041"/>
          </a:xfrm>
          <a:prstGeom prst="rect">
            <a:avLst/>
          </a:prstGeom>
        </p:spPr>
      </p:pic>
      <p:sp>
        <p:nvSpPr>
          <p:cNvPr id="7" name="Content Placeholder 6">
            <a:extLst>
              <a:ext uri="{FF2B5EF4-FFF2-40B4-BE49-F238E27FC236}">
                <a16:creationId xmlns:a16="http://schemas.microsoft.com/office/drawing/2014/main" id="{8BB63835-76A7-8A41-DB4D-F47011C935A6}"/>
              </a:ext>
            </a:extLst>
          </p:cNvPr>
          <p:cNvSpPr>
            <a:spLocks noGrp="1"/>
          </p:cNvSpPr>
          <p:nvPr>
            <p:ph sz="half" idx="2"/>
          </p:nvPr>
        </p:nvSpPr>
        <p:spPr/>
        <p:txBody>
          <a:bodyPr/>
          <a:lstStyle/>
          <a:p>
            <a:r>
              <a:rPr lang="en-US" dirty="0"/>
              <a:t>Strong positive correlations show that work experience is the key driver of salary.</a:t>
            </a:r>
            <a:br>
              <a:rPr lang="en-US" dirty="0"/>
            </a:br>
            <a:r>
              <a:rPr lang="en-US" dirty="0"/>
              <a:t>Age correlates with salary largely because it aligns with years of experience.</a:t>
            </a:r>
            <a:br>
              <a:rPr lang="en-US" dirty="0"/>
            </a:br>
            <a:r>
              <a:rPr lang="en-US" dirty="0"/>
              <a:t>Therefore, </a:t>
            </a:r>
            <a:r>
              <a:rPr lang="en-US" b="1" dirty="0"/>
              <a:t>experience should be prioritized in salary analysis and modeling</a:t>
            </a:r>
            <a:r>
              <a:rPr lang="en-US" dirty="0"/>
              <a:t>, rather than age, to maintain fairness and avoid bias.</a:t>
            </a:r>
            <a:endParaRPr lang="en-ID" dirty="0"/>
          </a:p>
        </p:txBody>
      </p:sp>
    </p:spTree>
    <p:extLst>
      <p:ext uri="{BB962C8B-B14F-4D97-AF65-F5344CB8AC3E}">
        <p14:creationId xmlns:p14="http://schemas.microsoft.com/office/powerpoint/2010/main" val="1368799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DEFA-8ECF-FCCF-9A31-8FEBA7A59D12}"/>
              </a:ext>
            </a:extLst>
          </p:cNvPr>
          <p:cNvSpPr>
            <a:spLocks noGrp="1"/>
          </p:cNvSpPr>
          <p:nvPr>
            <p:ph type="title"/>
          </p:nvPr>
        </p:nvSpPr>
        <p:spPr/>
        <p:txBody>
          <a:bodyPr/>
          <a:lstStyle/>
          <a:p>
            <a:r>
              <a:rPr lang="en-US" dirty="0"/>
              <a:t>KEY FACTOR INFLUENCE SALARY? </a:t>
            </a:r>
            <a:endParaRPr lang="en-ID" dirty="0"/>
          </a:p>
        </p:txBody>
      </p:sp>
      <p:pic>
        <p:nvPicPr>
          <p:cNvPr id="6" name="Content Placeholder 5">
            <a:extLst>
              <a:ext uri="{FF2B5EF4-FFF2-40B4-BE49-F238E27FC236}">
                <a16:creationId xmlns:a16="http://schemas.microsoft.com/office/drawing/2014/main" id="{EC79BF6C-0F58-5973-7C59-B9B907CFC619}"/>
              </a:ext>
            </a:extLst>
          </p:cNvPr>
          <p:cNvPicPr>
            <a:picLocks noGrp="1" noChangeAspect="1"/>
          </p:cNvPicPr>
          <p:nvPr>
            <p:ph sz="half" idx="1"/>
          </p:nvPr>
        </p:nvPicPr>
        <p:blipFill>
          <a:blip r:embed="rId2"/>
          <a:stretch>
            <a:fillRect/>
          </a:stretch>
        </p:blipFill>
        <p:spPr>
          <a:xfrm>
            <a:off x="581192" y="2228003"/>
            <a:ext cx="5441728" cy="3575695"/>
          </a:xfrm>
          <a:prstGeom prst="rect">
            <a:avLst/>
          </a:prstGeom>
        </p:spPr>
      </p:pic>
      <p:sp>
        <p:nvSpPr>
          <p:cNvPr id="4" name="Content Placeholder 3">
            <a:extLst>
              <a:ext uri="{FF2B5EF4-FFF2-40B4-BE49-F238E27FC236}">
                <a16:creationId xmlns:a16="http://schemas.microsoft.com/office/drawing/2014/main" id="{851355ED-F4C0-7AFA-25DD-8EE151C654E9}"/>
              </a:ext>
            </a:extLst>
          </p:cNvPr>
          <p:cNvSpPr>
            <a:spLocks noGrp="1"/>
          </p:cNvSpPr>
          <p:nvPr>
            <p:ph sz="half" idx="2"/>
          </p:nvPr>
        </p:nvSpPr>
        <p:spPr/>
        <p:txBody>
          <a:bodyPr>
            <a:normAutofit fontScale="92500" lnSpcReduction="20000"/>
          </a:bodyPr>
          <a:lstStyle/>
          <a:p>
            <a:pPr marL="0" indent="0">
              <a:buNone/>
            </a:pPr>
            <a:br>
              <a:rPr lang="en-US" b="1" dirty="0"/>
            </a:br>
            <a:r>
              <a:rPr lang="en-US" b="1" dirty="0"/>
              <a:t>Experience strongly correlates with salary growth.</a:t>
            </a:r>
            <a:br>
              <a:rPr lang="en-US" b="1" dirty="0"/>
            </a:br>
            <a:br>
              <a:rPr lang="en-US" dirty="0"/>
            </a:br>
            <a:r>
              <a:rPr lang="en-US" dirty="0"/>
              <a:t>Employees with more years of experience tend to earn significantly higher salaries.</a:t>
            </a:r>
          </a:p>
          <a:p>
            <a:pPr marL="0" indent="0">
              <a:buNone/>
            </a:pPr>
            <a:r>
              <a:rPr lang="en-US" dirty="0"/>
              <a:t>The upward trend indicates:</a:t>
            </a:r>
          </a:p>
          <a:p>
            <a:r>
              <a:rPr lang="en-US" dirty="0"/>
              <a:t>Experience is a key driver of compensation</a:t>
            </a:r>
          </a:p>
          <a:p>
            <a:r>
              <a:rPr lang="en-US" dirty="0"/>
              <a:t>Salary increases steadily with accumulated expertise</a:t>
            </a:r>
          </a:p>
          <a:p>
            <a:r>
              <a:rPr lang="en-US" dirty="0"/>
              <a:t>Career progression and learning over time are rewarded in the market</a:t>
            </a:r>
          </a:p>
          <a:p>
            <a:r>
              <a:rPr lang="en-US" b="1" dirty="0"/>
              <a:t>Key takeaway:</a:t>
            </a:r>
            <a:r>
              <a:rPr lang="en-US" dirty="0"/>
              <a:t> </a:t>
            </a:r>
            <a:r>
              <a:rPr lang="en-US" i="1" dirty="0"/>
              <a:t>Work experience is a major determinant of salary.</a:t>
            </a:r>
            <a:endParaRPr lang="en-US" dirty="0"/>
          </a:p>
          <a:p>
            <a:endParaRPr lang="en-ID" dirty="0"/>
          </a:p>
        </p:txBody>
      </p:sp>
    </p:spTree>
    <p:extLst>
      <p:ext uri="{BB962C8B-B14F-4D97-AF65-F5344CB8AC3E}">
        <p14:creationId xmlns:p14="http://schemas.microsoft.com/office/powerpoint/2010/main" val="2788959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F71ADF-474A-EA63-3B56-07F193A6FECB}"/>
              </a:ext>
            </a:extLst>
          </p:cNvPr>
          <p:cNvSpPr>
            <a:spLocks noGrp="1"/>
          </p:cNvSpPr>
          <p:nvPr>
            <p:ph type="title"/>
          </p:nvPr>
        </p:nvSpPr>
        <p:spPr/>
        <p:txBody>
          <a:bodyPr/>
          <a:lstStyle/>
          <a:p>
            <a:r>
              <a:rPr lang="en-US" dirty="0"/>
              <a:t>KEY FACTOR INFLUENCE SALARY? </a:t>
            </a:r>
            <a:endParaRPr lang="en-ID" dirty="0"/>
          </a:p>
        </p:txBody>
      </p:sp>
      <p:pic>
        <p:nvPicPr>
          <p:cNvPr id="9" name="Content Placeholder 8">
            <a:extLst>
              <a:ext uri="{FF2B5EF4-FFF2-40B4-BE49-F238E27FC236}">
                <a16:creationId xmlns:a16="http://schemas.microsoft.com/office/drawing/2014/main" id="{CD66066B-51E5-EDA3-6689-DFCD9E521ECC}"/>
              </a:ext>
            </a:extLst>
          </p:cNvPr>
          <p:cNvPicPr>
            <a:picLocks noGrp="1" noChangeAspect="1"/>
          </p:cNvPicPr>
          <p:nvPr>
            <p:ph sz="half" idx="1"/>
          </p:nvPr>
        </p:nvPicPr>
        <p:blipFill>
          <a:blip r:embed="rId2"/>
          <a:stretch>
            <a:fillRect/>
          </a:stretch>
        </p:blipFill>
        <p:spPr>
          <a:xfrm>
            <a:off x="682023" y="2149856"/>
            <a:ext cx="5734016" cy="3789339"/>
          </a:xfrm>
          <a:prstGeom prst="rect">
            <a:avLst/>
          </a:prstGeom>
        </p:spPr>
      </p:pic>
      <p:sp>
        <p:nvSpPr>
          <p:cNvPr id="7" name="Content Placeholder 6">
            <a:extLst>
              <a:ext uri="{FF2B5EF4-FFF2-40B4-BE49-F238E27FC236}">
                <a16:creationId xmlns:a16="http://schemas.microsoft.com/office/drawing/2014/main" id="{EE47ABF9-634E-7D27-AE51-57A622C43FF7}"/>
              </a:ext>
            </a:extLst>
          </p:cNvPr>
          <p:cNvSpPr>
            <a:spLocks noGrp="1"/>
          </p:cNvSpPr>
          <p:nvPr>
            <p:ph sz="half" idx="2"/>
          </p:nvPr>
        </p:nvSpPr>
        <p:spPr/>
        <p:txBody>
          <a:bodyPr>
            <a:normAutofit/>
          </a:bodyPr>
          <a:lstStyle/>
          <a:p>
            <a:pPr marL="0" indent="0">
              <a:buNone/>
            </a:pPr>
            <a:r>
              <a:rPr lang="en-US" b="1" dirty="0"/>
              <a:t>Higher education leads to higher salary levels.</a:t>
            </a:r>
            <a:br>
              <a:rPr lang="en-US" dirty="0"/>
            </a:br>
            <a:r>
              <a:rPr lang="en-US" dirty="0"/>
              <a:t>Employees with advanced degrees earn significantly more than those with only high school or bachelor's degrees.</a:t>
            </a:r>
          </a:p>
          <a:p>
            <a:pPr marL="0" indent="0">
              <a:buNone/>
            </a:pPr>
            <a:r>
              <a:rPr lang="en-US" dirty="0"/>
              <a:t>Key observations:</a:t>
            </a:r>
          </a:p>
          <a:p>
            <a:r>
              <a:rPr lang="en-US" dirty="0"/>
              <a:t>PhD holders receive the highest average salaries</a:t>
            </a:r>
          </a:p>
          <a:p>
            <a:r>
              <a:rPr lang="en-US" dirty="0"/>
              <a:t>Master’s graduates earn more than bachelor’s</a:t>
            </a:r>
          </a:p>
          <a:p>
            <a:r>
              <a:rPr lang="en-US" dirty="0"/>
              <a:t>High school level has the lowest earning range</a:t>
            </a:r>
          </a:p>
          <a:p>
            <a:pPr marL="0" indent="0">
              <a:buNone/>
            </a:pPr>
            <a:endParaRPr lang="en-US" dirty="0"/>
          </a:p>
          <a:p>
            <a:pPr marL="0" indent="0">
              <a:buNone/>
            </a:pPr>
            <a:endParaRPr lang="en-ID" dirty="0"/>
          </a:p>
        </p:txBody>
      </p:sp>
    </p:spTree>
    <p:extLst>
      <p:ext uri="{BB962C8B-B14F-4D97-AF65-F5344CB8AC3E}">
        <p14:creationId xmlns:p14="http://schemas.microsoft.com/office/powerpoint/2010/main" val="2154386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65A3B-F2A4-24F2-9641-797C5DBAF277}"/>
              </a:ext>
            </a:extLst>
          </p:cNvPr>
          <p:cNvSpPr>
            <a:spLocks noGrp="1"/>
          </p:cNvSpPr>
          <p:nvPr>
            <p:ph type="title"/>
          </p:nvPr>
        </p:nvSpPr>
        <p:spPr/>
        <p:txBody>
          <a:bodyPr/>
          <a:lstStyle/>
          <a:p>
            <a:r>
              <a:rPr lang="en-US" dirty="0"/>
              <a:t>Relationship with the variables</a:t>
            </a:r>
            <a:endParaRPr lang="en-ID" dirty="0"/>
          </a:p>
        </p:txBody>
      </p:sp>
      <p:sp>
        <p:nvSpPr>
          <p:cNvPr id="3" name="Content Placeholder 2">
            <a:extLst>
              <a:ext uri="{FF2B5EF4-FFF2-40B4-BE49-F238E27FC236}">
                <a16:creationId xmlns:a16="http://schemas.microsoft.com/office/drawing/2014/main" id="{F0B51251-3C65-9AD3-6F54-651D99A06BA9}"/>
              </a:ext>
            </a:extLst>
          </p:cNvPr>
          <p:cNvSpPr>
            <a:spLocks noGrp="1"/>
          </p:cNvSpPr>
          <p:nvPr>
            <p:ph sz="half" idx="1"/>
          </p:nvPr>
        </p:nvSpPr>
        <p:spPr/>
        <p:txBody>
          <a:bodyPr/>
          <a:lstStyle/>
          <a:p>
            <a:pPr marL="0" indent="0">
              <a:buNone/>
            </a:pPr>
            <a:r>
              <a:rPr lang="en-US" dirty="0"/>
              <a:t>This chart shows a clear positive relationship between work experience and salary.</a:t>
            </a:r>
            <a:br>
              <a:rPr lang="en-US" dirty="0"/>
            </a:br>
            <a:r>
              <a:rPr lang="en-US" dirty="0"/>
              <a:t>As years of experience increase, salary tends to rise consistently.</a:t>
            </a:r>
            <a:br>
              <a:rPr lang="en-US" dirty="0"/>
            </a:br>
            <a:br>
              <a:rPr lang="en-US" dirty="0"/>
            </a:br>
            <a:r>
              <a:rPr lang="en-US" dirty="0"/>
              <a:t>Although there is some variation at each experience level, the overall upward trend indicates that experience plays a significant role in salary growth.</a:t>
            </a:r>
          </a:p>
          <a:p>
            <a:pPr marL="0" indent="0">
              <a:buNone/>
            </a:pPr>
            <a:endParaRPr lang="en-US" dirty="0"/>
          </a:p>
          <a:p>
            <a:pPr marL="0" indent="0">
              <a:buNone/>
            </a:pPr>
            <a:r>
              <a:rPr lang="en-US" b="1" dirty="0"/>
              <a:t>Key takeaway:</a:t>
            </a:r>
            <a:r>
              <a:rPr lang="en-US" dirty="0"/>
              <a:t> Employees with more experience typically earn higher salaries.</a:t>
            </a:r>
            <a:endParaRPr lang="en-ID" dirty="0"/>
          </a:p>
        </p:txBody>
      </p:sp>
      <p:pic>
        <p:nvPicPr>
          <p:cNvPr id="6" name="Content Placeholder 5">
            <a:extLst>
              <a:ext uri="{FF2B5EF4-FFF2-40B4-BE49-F238E27FC236}">
                <a16:creationId xmlns:a16="http://schemas.microsoft.com/office/drawing/2014/main" id="{00FE2F73-229F-DDD1-D567-16CC94207760}"/>
              </a:ext>
            </a:extLst>
          </p:cNvPr>
          <p:cNvPicPr>
            <a:picLocks noGrp="1" noChangeAspect="1"/>
          </p:cNvPicPr>
          <p:nvPr>
            <p:ph sz="half" idx="2"/>
          </p:nvPr>
        </p:nvPicPr>
        <p:blipFill>
          <a:blip r:embed="rId2"/>
          <a:stretch>
            <a:fillRect/>
          </a:stretch>
        </p:blipFill>
        <p:spPr>
          <a:xfrm>
            <a:off x="5961063" y="2045110"/>
            <a:ext cx="5827354" cy="3815939"/>
          </a:xfrm>
          <a:prstGeom prst="rect">
            <a:avLst/>
          </a:prstGeom>
        </p:spPr>
      </p:pic>
    </p:spTree>
    <p:extLst>
      <p:ext uri="{BB962C8B-B14F-4D97-AF65-F5344CB8AC3E}">
        <p14:creationId xmlns:p14="http://schemas.microsoft.com/office/powerpoint/2010/main" val="414269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4652A-D5D1-C4F5-6E01-7520BFAC4714}"/>
              </a:ext>
            </a:extLst>
          </p:cNvPr>
          <p:cNvSpPr>
            <a:spLocks noGrp="1"/>
          </p:cNvSpPr>
          <p:nvPr>
            <p:ph type="title"/>
          </p:nvPr>
        </p:nvSpPr>
        <p:spPr/>
        <p:txBody>
          <a:bodyPr/>
          <a:lstStyle/>
          <a:p>
            <a:r>
              <a:rPr lang="en-US" dirty="0"/>
              <a:t>Relationship with the variables</a:t>
            </a:r>
            <a:endParaRPr lang="en-ID" dirty="0"/>
          </a:p>
        </p:txBody>
      </p:sp>
      <p:sp>
        <p:nvSpPr>
          <p:cNvPr id="4" name="Content Placeholder 3">
            <a:extLst>
              <a:ext uri="{FF2B5EF4-FFF2-40B4-BE49-F238E27FC236}">
                <a16:creationId xmlns:a16="http://schemas.microsoft.com/office/drawing/2014/main" id="{58343E20-AA7F-8873-00AA-B01A9AF2EFAC}"/>
              </a:ext>
            </a:extLst>
          </p:cNvPr>
          <p:cNvSpPr>
            <a:spLocks noGrp="1"/>
          </p:cNvSpPr>
          <p:nvPr>
            <p:ph sz="half" idx="2"/>
          </p:nvPr>
        </p:nvSpPr>
        <p:spPr>
          <a:xfrm>
            <a:off x="581194" y="2231228"/>
            <a:ext cx="5194766" cy="3629824"/>
          </a:xfrm>
        </p:spPr>
        <p:txBody>
          <a:bodyPr/>
          <a:lstStyle/>
          <a:p>
            <a:endParaRPr lang="en-US" dirty="0"/>
          </a:p>
          <a:p>
            <a:endParaRPr lang="en-US" dirty="0"/>
          </a:p>
          <a:p>
            <a:r>
              <a:rPr lang="en-US" dirty="0"/>
              <a:t>This chart shows that higher education levels are associated with higher salaries.</a:t>
            </a:r>
            <a:br>
              <a:rPr lang="en-US" dirty="0"/>
            </a:br>
            <a:r>
              <a:rPr lang="en-US" dirty="0"/>
              <a:t>Employees with PhD degrees earn the highest average salary, followed by Master’s, Bachelor’s, and High School graduates.</a:t>
            </a:r>
          </a:p>
          <a:p>
            <a:pPr marL="0" indent="0">
              <a:buNone/>
            </a:pPr>
            <a:r>
              <a:rPr lang="en-US" b="1" dirty="0"/>
              <a:t>Key takeaway:</a:t>
            </a:r>
            <a:r>
              <a:rPr lang="en-US" dirty="0"/>
              <a:t> Higher education correlates with higher earnings.</a:t>
            </a:r>
          </a:p>
          <a:p>
            <a:endParaRPr lang="en-ID" dirty="0"/>
          </a:p>
        </p:txBody>
      </p:sp>
      <p:sp>
        <p:nvSpPr>
          <p:cNvPr id="5" name="Text Placeholder 4">
            <a:extLst>
              <a:ext uri="{FF2B5EF4-FFF2-40B4-BE49-F238E27FC236}">
                <a16:creationId xmlns:a16="http://schemas.microsoft.com/office/drawing/2014/main" id="{F97BC736-6654-170E-F17D-2C12245780D0}"/>
              </a:ext>
            </a:extLst>
          </p:cNvPr>
          <p:cNvSpPr>
            <a:spLocks noGrp="1"/>
          </p:cNvSpPr>
          <p:nvPr>
            <p:ph type="body" sz="quarter" idx="3"/>
          </p:nvPr>
        </p:nvSpPr>
        <p:spPr/>
        <p:txBody>
          <a:bodyPr/>
          <a:lstStyle/>
          <a:p>
            <a:endParaRPr lang="en-ID"/>
          </a:p>
        </p:txBody>
      </p:sp>
      <p:pic>
        <p:nvPicPr>
          <p:cNvPr id="10" name="Content Placeholder 9">
            <a:extLst>
              <a:ext uri="{FF2B5EF4-FFF2-40B4-BE49-F238E27FC236}">
                <a16:creationId xmlns:a16="http://schemas.microsoft.com/office/drawing/2014/main" id="{C3A28D37-103A-97B4-47AC-9F16DBF26965}"/>
              </a:ext>
            </a:extLst>
          </p:cNvPr>
          <p:cNvPicPr>
            <a:picLocks noGrp="1" noChangeAspect="1"/>
          </p:cNvPicPr>
          <p:nvPr>
            <p:ph sz="quarter" idx="4"/>
          </p:nvPr>
        </p:nvPicPr>
        <p:blipFill>
          <a:blip r:embed="rId2"/>
          <a:stretch>
            <a:fillRect/>
          </a:stretch>
        </p:blipFill>
        <p:spPr>
          <a:xfrm>
            <a:off x="6194884" y="2231227"/>
            <a:ext cx="5494580" cy="3532984"/>
          </a:xfrm>
          <a:prstGeom prst="rect">
            <a:avLst/>
          </a:prstGeom>
        </p:spPr>
      </p:pic>
    </p:spTree>
    <p:extLst>
      <p:ext uri="{BB962C8B-B14F-4D97-AF65-F5344CB8AC3E}">
        <p14:creationId xmlns:p14="http://schemas.microsoft.com/office/powerpoint/2010/main" val="1289006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B3E0-11D8-93E1-659E-487A72B96A5A}"/>
              </a:ext>
            </a:extLst>
          </p:cNvPr>
          <p:cNvSpPr>
            <a:spLocks noGrp="1"/>
          </p:cNvSpPr>
          <p:nvPr>
            <p:ph type="title"/>
          </p:nvPr>
        </p:nvSpPr>
        <p:spPr/>
        <p:txBody>
          <a:bodyPr/>
          <a:lstStyle/>
          <a:p>
            <a:r>
              <a:rPr lang="en-US" dirty="0"/>
              <a:t>Relationship with the variables</a:t>
            </a:r>
            <a:endParaRPr lang="en-ID" dirty="0"/>
          </a:p>
        </p:txBody>
      </p:sp>
      <p:sp>
        <p:nvSpPr>
          <p:cNvPr id="4" name="Content Placeholder 3">
            <a:extLst>
              <a:ext uri="{FF2B5EF4-FFF2-40B4-BE49-F238E27FC236}">
                <a16:creationId xmlns:a16="http://schemas.microsoft.com/office/drawing/2014/main" id="{7C81984D-87C4-A332-4A3F-066F26A02499}"/>
              </a:ext>
            </a:extLst>
          </p:cNvPr>
          <p:cNvSpPr>
            <a:spLocks noGrp="1"/>
          </p:cNvSpPr>
          <p:nvPr>
            <p:ph sz="half" idx="2"/>
          </p:nvPr>
        </p:nvSpPr>
        <p:spPr>
          <a:xfrm>
            <a:off x="581194" y="1986116"/>
            <a:ext cx="5194766" cy="3874935"/>
          </a:xfrm>
        </p:spPr>
        <p:txBody>
          <a:bodyPr/>
          <a:lstStyle/>
          <a:p>
            <a:endParaRPr lang="en-US" dirty="0"/>
          </a:p>
          <a:p>
            <a:endParaRPr lang="en-US" dirty="0"/>
          </a:p>
          <a:p>
            <a:r>
              <a:rPr lang="en-US" dirty="0"/>
              <a:t>The horizontal bar chart shows the </a:t>
            </a:r>
            <a:r>
              <a:rPr lang="en-US" b="1" dirty="0"/>
              <a:t>Average Salary of the Top 30 Job Titles</a:t>
            </a:r>
            <a:r>
              <a:rPr lang="en-US" dirty="0"/>
              <a:t>.</a:t>
            </a:r>
          </a:p>
          <a:p>
            <a:r>
              <a:rPr lang="en-US" dirty="0"/>
              <a:t>Consistently, the highest executive-level roles such as </a:t>
            </a:r>
            <a:r>
              <a:rPr lang="en-US" b="1" dirty="0"/>
              <a:t>CEO, Chief Technology Officer, and Chief Data Officer</a:t>
            </a:r>
            <a:r>
              <a:rPr lang="en-US" dirty="0"/>
              <a:t> have the highest average salaries.</a:t>
            </a:r>
          </a:p>
          <a:p>
            <a:pPr marL="0" indent="0">
              <a:buNone/>
            </a:pPr>
            <a:r>
              <a:rPr lang="en-US" b="1" dirty="0"/>
              <a:t>Key takeaway:</a:t>
            </a:r>
            <a:r>
              <a:rPr lang="en-US" dirty="0"/>
              <a:t> The higher the level of responsibility and the hierarchy of the job title, the greater the average salary.</a:t>
            </a:r>
          </a:p>
          <a:p>
            <a:pPr marL="0" indent="0">
              <a:buNone/>
            </a:pPr>
            <a:endParaRPr lang="en-ID" dirty="0"/>
          </a:p>
        </p:txBody>
      </p:sp>
      <p:pic>
        <p:nvPicPr>
          <p:cNvPr id="8" name="Content Placeholder 7">
            <a:extLst>
              <a:ext uri="{FF2B5EF4-FFF2-40B4-BE49-F238E27FC236}">
                <a16:creationId xmlns:a16="http://schemas.microsoft.com/office/drawing/2014/main" id="{E8117F82-D34A-6AFB-D985-A7D96BFFE657}"/>
              </a:ext>
            </a:extLst>
          </p:cNvPr>
          <p:cNvPicPr>
            <a:picLocks noGrp="1" noChangeAspect="1"/>
          </p:cNvPicPr>
          <p:nvPr>
            <p:ph sz="quarter" idx="4"/>
          </p:nvPr>
        </p:nvPicPr>
        <p:blipFill>
          <a:blip r:embed="rId2"/>
          <a:stretch>
            <a:fillRect/>
          </a:stretch>
        </p:blipFill>
        <p:spPr>
          <a:xfrm>
            <a:off x="6543862" y="1916594"/>
            <a:ext cx="4644428" cy="4096246"/>
          </a:xfrm>
          <a:prstGeom prst="rect">
            <a:avLst/>
          </a:prstGeom>
        </p:spPr>
      </p:pic>
    </p:spTree>
    <p:extLst>
      <p:ext uri="{BB962C8B-B14F-4D97-AF65-F5344CB8AC3E}">
        <p14:creationId xmlns:p14="http://schemas.microsoft.com/office/powerpoint/2010/main" val="24143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F2EDF-3C9E-5609-6157-EDD30EE5460D}"/>
              </a:ext>
            </a:extLst>
          </p:cNvPr>
          <p:cNvSpPr>
            <a:spLocks noGrp="1"/>
          </p:cNvSpPr>
          <p:nvPr>
            <p:ph type="title"/>
          </p:nvPr>
        </p:nvSpPr>
        <p:spPr/>
        <p:txBody>
          <a:bodyPr/>
          <a:lstStyle/>
          <a:p>
            <a:r>
              <a:rPr lang="en-US" dirty="0"/>
              <a:t>Relationship with the variables</a:t>
            </a:r>
            <a:endParaRPr lang="en-ID" dirty="0"/>
          </a:p>
        </p:txBody>
      </p:sp>
      <p:sp>
        <p:nvSpPr>
          <p:cNvPr id="3" name="Content Placeholder 2">
            <a:extLst>
              <a:ext uri="{FF2B5EF4-FFF2-40B4-BE49-F238E27FC236}">
                <a16:creationId xmlns:a16="http://schemas.microsoft.com/office/drawing/2014/main" id="{669ED268-3FB0-3AD9-191B-752B2DA4597A}"/>
              </a:ext>
            </a:extLst>
          </p:cNvPr>
          <p:cNvSpPr>
            <a:spLocks noGrp="1"/>
          </p:cNvSpPr>
          <p:nvPr>
            <p:ph sz="half" idx="1"/>
          </p:nvPr>
        </p:nvSpPr>
        <p:spPr/>
        <p:txBody>
          <a:bodyPr>
            <a:normAutofit/>
          </a:bodyPr>
          <a:lstStyle/>
          <a:p>
            <a:pPr marL="0" indent="0">
              <a:buNone/>
            </a:pPr>
            <a:r>
              <a:rPr lang="en-US" dirty="0"/>
              <a:t>We can clearly see a comparison of the average salaries between </a:t>
            </a:r>
            <a:r>
              <a:rPr lang="en-US" i="1" dirty="0"/>
              <a:t>Female</a:t>
            </a:r>
            <a:r>
              <a:rPr lang="en-US" dirty="0"/>
              <a:t> and </a:t>
            </a:r>
            <a:r>
              <a:rPr lang="en-US" i="1" dirty="0"/>
              <a:t>Male</a:t>
            </a:r>
            <a:r>
              <a:rPr lang="en-US" dirty="0"/>
              <a:t> employees here.</a:t>
            </a:r>
          </a:p>
          <a:p>
            <a:r>
              <a:rPr lang="en-US" b="1" dirty="0"/>
              <a:t>Male:</a:t>
            </a:r>
            <a:r>
              <a:rPr lang="en-US" dirty="0"/>
              <a:t> The average salary appears to be </a:t>
            </a:r>
            <a:r>
              <a:rPr lang="en-US" b="1" dirty="0"/>
              <a:t>higher</a:t>
            </a:r>
            <a:r>
              <a:rPr lang="en-US" dirty="0"/>
              <a:t>, sitting close to $120,000.</a:t>
            </a:r>
          </a:p>
          <a:p>
            <a:r>
              <a:rPr lang="en-US" b="1" dirty="0"/>
              <a:t>Female:</a:t>
            </a:r>
            <a:r>
              <a:rPr lang="en-US" dirty="0"/>
              <a:t> The average salary is lower, positioned around $108,000.</a:t>
            </a:r>
          </a:p>
          <a:p>
            <a:pPr marL="0" indent="0">
              <a:buNone/>
            </a:pPr>
            <a:r>
              <a:rPr lang="en-US" b="1" dirty="0"/>
              <a:t>The Main Takeaway:</a:t>
            </a:r>
            <a:r>
              <a:rPr lang="en-US" dirty="0"/>
              <a:t> Based purely on this data, there seems to be a </a:t>
            </a:r>
            <a:r>
              <a:rPr lang="en-US" b="1" dirty="0"/>
              <a:t>salary gap</a:t>
            </a:r>
            <a:r>
              <a:rPr lang="en-US" dirty="0"/>
              <a:t> present. The average male salary in this dataset is higher than the average female salary.</a:t>
            </a:r>
          </a:p>
          <a:p>
            <a:endParaRPr lang="en-ID" dirty="0"/>
          </a:p>
        </p:txBody>
      </p:sp>
      <p:pic>
        <p:nvPicPr>
          <p:cNvPr id="6" name="Content Placeholder 5">
            <a:extLst>
              <a:ext uri="{FF2B5EF4-FFF2-40B4-BE49-F238E27FC236}">
                <a16:creationId xmlns:a16="http://schemas.microsoft.com/office/drawing/2014/main" id="{2F122F8C-3190-3F87-40E2-DDF18927784C}"/>
              </a:ext>
            </a:extLst>
          </p:cNvPr>
          <p:cNvPicPr>
            <a:picLocks noGrp="1" noChangeAspect="1"/>
          </p:cNvPicPr>
          <p:nvPr>
            <p:ph sz="half" idx="2"/>
          </p:nvPr>
        </p:nvPicPr>
        <p:blipFill>
          <a:blip r:embed="rId2"/>
          <a:stretch>
            <a:fillRect/>
          </a:stretch>
        </p:blipFill>
        <p:spPr>
          <a:xfrm>
            <a:off x="6293860" y="2044002"/>
            <a:ext cx="5105632" cy="4001048"/>
          </a:xfrm>
          <a:prstGeom prst="rect">
            <a:avLst/>
          </a:prstGeom>
        </p:spPr>
      </p:pic>
    </p:spTree>
    <p:extLst>
      <p:ext uri="{BB962C8B-B14F-4D97-AF65-F5344CB8AC3E}">
        <p14:creationId xmlns:p14="http://schemas.microsoft.com/office/powerpoint/2010/main" val="3600863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normAutofit/>
          </a:bodyPr>
          <a:lstStyle/>
          <a:p>
            <a:r>
              <a:rPr lang="en-US" sz="3200" dirty="0"/>
              <a:t>DATA </a:t>
            </a:r>
            <a:r>
              <a:rPr lang="en-US" sz="3200" dirty="0" err="1"/>
              <a:t>PREPRoCESSING</a:t>
            </a:r>
            <a:endParaRPr lang="en-US" sz="3200" dirty="0"/>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1137412183"/>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84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DAEA2-B09E-5C82-C24B-1C55CEE95534}"/>
              </a:ext>
            </a:extLst>
          </p:cNvPr>
          <p:cNvSpPr>
            <a:spLocks noGrp="1"/>
          </p:cNvSpPr>
          <p:nvPr>
            <p:ph type="title"/>
          </p:nvPr>
        </p:nvSpPr>
        <p:spPr/>
        <p:txBody>
          <a:bodyPr>
            <a:normAutofit/>
          </a:bodyPr>
          <a:lstStyle/>
          <a:p>
            <a:r>
              <a:rPr lang="en-US" sz="3200" dirty="0"/>
              <a:t>MULTICOLINEARITY</a:t>
            </a:r>
            <a:endParaRPr lang="en-ID" sz="3200" dirty="0"/>
          </a:p>
        </p:txBody>
      </p:sp>
      <p:sp>
        <p:nvSpPr>
          <p:cNvPr id="5" name="Text Placeholder 4">
            <a:extLst>
              <a:ext uri="{FF2B5EF4-FFF2-40B4-BE49-F238E27FC236}">
                <a16:creationId xmlns:a16="http://schemas.microsoft.com/office/drawing/2014/main" id="{C7A21415-58FF-4E41-4C62-48CAF8F690E0}"/>
              </a:ext>
            </a:extLst>
          </p:cNvPr>
          <p:cNvSpPr>
            <a:spLocks noGrp="1"/>
          </p:cNvSpPr>
          <p:nvPr>
            <p:ph type="body" sz="quarter" idx="3"/>
          </p:nvPr>
        </p:nvSpPr>
        <p:spPr/>
        <p:txBody>
          <a:bodyPr/>
          <a:lstStyle/>
          <a:p>
            <a:r>
              <a:rPr lang="en-US" dirty="0"/>
              <a:t>REDUNDANT VARIALE</a:t>
            </a:r>
            <a:endParaRPr lang="en-ID" dirty="0"/>
          </a:p>
        </p:txBody>
      </p:sp>
      <p:sp>
        <p:nvSpPr>
          <p:cNvPr id="6" name="Content Placeholder 5">
            <a:extLst>
              <a:ext uri="{FF2B5EF4-FFF2-40B4-BE49-F238E27FC236}">
                <a16:creationId xmlns:a16="http://schemas.microsoft.com/office/drawing/2014/main" id="{D64196CA-EF8A-8FBA-4F44-A7F33CF7FD57}"/>
              </a:ext>
            </a:extLst>
          </p:cNvPr>
          <p:cNvSpPr>
            <a:spLocks noGrp="1"/>
          </p:cNvSpPr>
          <p:nvPr>
            <p:ph sz="quarter" idx="4"/>
          </p:nvPr>
        </p:nvSpPr>
        <p:spPr/>
        <p:txBody>
          <a:bodyPr/>
          <a:lstStyle/>
          <a:p>
            <a:r>
              <a:rPr lang="en-US" dirty="0"/>
              <a:t>AGE </a:t>
            </a:r>
          </a:p>
          <a:p>
            <a:r>
              <a:rPr lang="en-US" dirty="0"/>
              <a:t>YEARS OF EXPERIENCE</a:t>
            </a:r>
          </a:p>
          <a:p>
            <a:pPr marL="0" indent="0">
              <a:buNone/>
            </a:pPr>
            <a:endParaRPr lang="en-US" dirty="0"/>
          </a:p>
          <a:p>
            <a:endParaRPr lang="en-US" dirty="0"/>
          </a:p>
          <a:p>
            <a:r>
              <a:rPr lang="en-US" dirty="0"/>
              <a:t>DROP COLUMN :</a:t>
            </a:r>
            <a:br>
              <a:rPr lang="en-US" dirty="0"/>
            </a:br>
            <a:r>
              <a:rPr lang="en-US" dirty="0"/>
              <a:t>AGE </a:t>
            </a:r>
            <a:endParaRPr lang="en-ID" dirty="0"/>
          </a:p>
        </p:txBody>
      </p:sp>
      <p:pic>
        <p:nvPicPr>
          <p:cNvPr id="9" name="Content Placeholder 8">
            <a:extLst>
              <a:ext uri="{FF2B5EF4-FFF2-40B4-BE49-F238E27FC236}">
                <a16:creationId xmlns:a16="http://schemas.microsoft.com/office/drawing/2014/main" id="{4C129745-8C1C-E496-160A-A8A09D4B886D}"/>
              </a:ext>
            </a:extLst>
          </p:cNvPr>
          <p:cNvPicPr>
            <a:picLocks noGrp="1" noChangeAspect="1"/>
          </p:cNvPicPr>
          <p:nvPr>
            <p:ph sz="half" idx="2"/>
          </p:nvPr>
        </p:nvPicPr>
        <p:blipFill>
          <a:blip r:embed="rId2"/>
          <a:stretch>
            <a:fillRect/>
          </a:stretch>
        </p:blipFill>
        <p:spPr>
          <a:xfrm>
            <a:off x="808584" y="2163097"/>
            <a:ext cx="5264384" cy="3775587"/>
          </a:xfrm>
          <a:prstGeom prst="rect">
            <a:avLst/>
          </a:prstGeom>
        </p:spPr>
      </p:pic>
    </p:spTree>
    <p:extLst>
      <p:ext uri="{BB962C8B-B14F-4D97-AF65-F5344CB8AC3E}">
        <p14:creationId xmlns:p14="http://schemas.microsoft.com/office/powerpoint/2010/main" val="2288043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742D-A051-9177-24D7-0AA12B9B996C}"/>
              </a:ext>
            </a:extLst>
          </p:cNvPr>
          <p:cNvSpPr>
            <a:spLocks noGrp="1"/>
          </p:cNvSpPr>
          <p:nvPr>
            <p:ph type="title"/>
          </p:nvPr>
        </p:nvSpPr>
        <p:spPr/>
        <p:txBody>
          <a:bodyPr/>
          <a:lstStyle/>
          <a:p>
            <a:r>
              <a:rPr lang="en-US" dirty="0"/>
              <a:t>Regression model</a:t>
            </a:r>
            <a:br>
              <a:rPr lang="en-US" dirty="0"/>
            </a:br>
            <a:r>
              <a:rPr lang="en-US" dirty="0"/>
              <a:t>	the best model</a:t>
            </a:r>
            <a:endParaRPr lang="en-ID" dirty="0"/>
          </a:p>
        </p:txBody>
      </p:sp>
      <p:graphicFrame>
        <p:nvGraphicFramePr>
          <p:cNvPr id="6" name="Content Placeholder 5">
            <a:extLst>
              <a:ext uri="{FF2B5EF4-FFF2-40B4-BE49-F238E27FC236}">
                <a16:creationId xmlns:a16="http://schemas.microsoft.com/office/drawing/2014/main" id="{FFCCE90A-0FBE-36C3-5959-246E164101BD}"/>
              </a:ext>
            </a:extLst>
          </p:cNvPr>
          <p:cNvGraphicFramePr>
            <a:graphicFrameLocks noGrp="1"/>
          </p:cNvGraphicFramePr>
          <p:nvPr>
            <p:ph idx="1"/>
            <p:extLst>
              <p:ext uri="{D42A27DB-BD31-4B8C-83A1-F6EECF244321}">
                <p14:modId xmlns:p14="http://schemas.microsoft.com/office/powerpoint/2010/main" val="377444952"/>
              </p:ext>
            </p:extLst>
          </p:nvPr>
        </p:nvGraphicFramePr>
        <p:xfrm>
          <a:off x="580858" y="2302239"/>
          <a:ext cx="11029950" cy="2296160"/>
        </p:xfrm>
        <a:graphic>
          <a:graphicData uri="http://schemas.openxmlformats.org/drawingml/2006/table">
            <a:tbl>
              <a:tblPr firstRow="1" bandRow="1">
                <a:tableStyleId>{5C22544A-7EE6-4342-B048-85BDC9FD1C3A}</a:tableStyleId>
              </a:tblPr>
              <a:tblGrid>
                <a:gridCol w="1225550">
                  <a:extLst>
                    <a:ext uri="{9D8B030D-6E8A-4147-A177-3AD203B41FA5}">
                      <a16:colId xmlns:a16="http://schemas.microsoft.com/office/drawing/2014/main" val="1605175239"/>
                    </a:ext>
                  </a:extLst>
                </a:gridCol>
                <a:gridCol w="1225550">
                  <a:extLst>
                    <a:ext uri="{9D8B030D-6E8A-4147-A177-3AD203B41FA5}">
                      <a16:colId xmlns:a16="http://schemas.microsoft.com/office/drawing/2014/main" val="4044324814"/>
                    </a:ext>
                  </a:extLst>
                </a:gridCol>
                <a:gridCol w="1225550">
                  <a:extLst>
                    <a:ext uri="{9D8B030D-6E8A-4147-A177-3AD203B41FA5}">
                      <a16:colId xmlns:a16="http://schemas.microsoft.com/office/drawing/2014/main" val="2494237434"/>
                    </a:ext>
                  </a:extLst>
                </a:gridCol>
                <a:gridCol w="1225550">
                  <a:extLst>
                    <a:ext uri="{9D8B030D-6E8A-4147-A177-3AD203B41FA5}">
                      <a16:colId xmlns:a16="http://schemas.microsoft.com/office/drawing/2014/main" val="3382366567"/>
                    </a:ext>
                  </a:extLst>
                </a:gridCol>
                <a:gridCol w="1225550">
                  <a:extLst>
                    <a:ext uri="{9D8B030D-6E8A-4147-A177-3AD203B41FA5}">
                      <a16:colId xmlns:a16="http://schemas.microsoft.com/office/drawing/2014/main" val="739000285"/>
                    </a:ext>
                  </a:extLst>
                </a:gridCol>
                <a:gridCol w="1225550">
                  <a:extLst>
                    <a:ext uri="{9D8B030D-6E8A-4147-A177-3AD203B41FA5}">
                      <a16:colId xmlns:a16="http://schemas.microsoft.com/office/drawing/2014/main" val="658664927"/>
                    </a:ext>
                  </a:extLst>
                </a:gridCol>
                <a:gridCol w="1225550">
                  <a:extLst>
                    <a:ext uri="{9D8B030D-6E8A-4147-A177-3AD203B41FA5}">
                      <a16:colId xmlns:a16="http://schemas.microsoft.com/office/drawing/2014/main" val="2924229478"/>
                    </a:ext>
                  </a:extLst>
                </a:gridCol>
                <a:gridCol w="1225550">
                  <a:extLst>
                    <a:ext uri="{9D8B030D-6E8A-4147-A177-3AD203B41FA5}">
                      <a16:colId xmlns:a16="http://schemas.microsoft.com/office/drawing/2014/main" val="575516318"/>
                    </a:ext>
                  </a:extLst>
                </a:gridCol>
                <a:gridCol w="1225550">
                  <a:extLst>
                    <a:ext uri="{9D8B030D-6E8A-4147-A177-3AD203B41FA5}">
                      <a16:colId xmlns:a16="http://schemas.microsoft.com/office/drawing/2014/main" val="2564989624"/>
                    </a:ext>
                  </a:extLst>
                </a:gridCol>
              </a:tblGrid>
              <a:tr h="370840">
                <a:tc>
                  <a:txBody>
                    <a:bodyPr/>
                    <a:lstStyle/>
                    <a:p>
                      <a:r>
                        <a:rPr lang="en-ID" sz="1800" b="1" i="0" kern="1200" dirty="0">
                          <a:solidFill>
                            <a:schemeClr val="lt1"/>
                          </a:solidFill>
                          <a:effectLst/>
                          <a:latin typeface="+mn-lt"/>
                          <a:ea typeface="+mn-ea"/>
                          <a:cs typeface="+mn-cs"/>
                        </a:rPr>
                        <a:t>Model </a:t>
                      </a:r>
                    </a:p>
                  </a:txBody>
                  <a:tcPr/>
                </a:tc>
                <a:tc>
                  <a:txBody>
                    <a:bodyPr/>
                    <a:lstStyle/>
                    <a:p>
                      <a:r>
                        <a:rPr lang="en-US" dirty="0"/>
                        <a:t>Train MAE</a:t>
                      </a:r>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Test MAE</a:t>
                      </a:r>
                      <a:endParaRPr lang="en-ID" dirty="0"/>
                    </a:p>
                    <a:p>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Train MAPE</a:t>
                      </a:r>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Test MAPE</a:t>
                      </a:r>
                      <a:endParaRPr lang="en-ID" dirty="0"/>
                    </a:p>
                    <a:p>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Train RMSE</a:t>
                      </a:r>
                      <a:endParaRPr lang="en-ID" dirty="0"/>
                    </a:p>
                    <a:p>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Test MAP</a:t>
                      </a:r>
                      <a:endParaRPr lang="en-ID" dirty="0"/>
                    </a:p>
                    <a:p>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Train R2</a:t>
                      </a:r>
                      <a:endParaRPr lang="en-ID" dirty="0"/>
                    </a:p>
                    <a:p>
                      <a:endParaRPr lang="en-ID"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Train R2</a:t>
                      </a:r>
                      <a:endParaRPr lang="en-ID" dirty="0"/>
                    </a:p>
                    <a:p>
                      <a:endParaRPr lang="en-ID" dirty="0"/>
                    </a:p>
                  </a:txBody>
                  <a:tcPr/>
                </a:tc>
                <a:extLst>
                  <a:ext uri="{0D108BD9-81ED-4DB2-BD59-A6C34878D82A}">
                    <a16:rowId xmlns:a16="http://schemas.microsoft.com/office/drawing/2014/main" val="3931680444"/>
                  </a:ext>
                </a:extLst>
              </a:tr>
              <a:tr h="370840">
                <a:tc>
                  <a:txBody>
                    <a:bodyPr/>
                    <a:lstStyle/>
                    <a:p>
                      <a:r>
                        <a:rPr lang="en-US" dirty="0"/>
                        <a:t>Ridge</a:t>
                      </a:r>
                      <a:endParaRPr lang="en-ID" dirty="0"/>
                    </a:p>
                  </a:txBody>
                  <a:tcPr/>
                </a:tc>
                <a:tc>
                  <a:txBody>
                    <a:bodyPr/>
                    <a:lstStyle/>
                    <a:p>
                      <a:r>
                        <a:rPr lang="en-US" dirty="0"/>
                        <a:t>14351.20</a:t>
                      </a:r>
                      <a:endParaRPr lang="en-ID" dirty="0"/>
                    </a:p>
                  </a:txBody>
                  <a:tcPr/>
                </a:tc>
                <a:tc>
                  <a:txBody>
                    <a:bodyPr/>
                    <a:lstStyle/>
                    <a:p>
                      <a:r>
                        <a:rPr lang="en-US" dirty="0"/>
                        <a:t>15103.83</a:t>
                      </a:r>
                      <a:endParaRPr lang="en-ID" dirty="0"/>
                    </a:p>
                  </a:txBody>
                  <a:tcPr/>
                </a:tc>
                <a:tc>
                  <a:txBody>
                    <a:bodyPr/>
                    <a:lstStyle/>
                    <a:p>
                      <a:r>
                        <a:rPr lang="en-US" dirty="0"/>
                        <a:t>19780.21</a:t>
                      </a:r>
                      <a:endParaRPr lang="en-ID" dirty="0"/>
                    </a:p>
                  </a:txBody>
                  <a:tcPr/>
                </a:tc>
                <a:tc>
                  <a:txBody>
                    <a:bodyPr/>
                    <a:lstStyle/>
                    <a:p>
                      <a:r>
                        <a:rPr lang="en-US" dirty="0"/>
                        <a:t>2OO30.70</a:t>
                      </a:r>
                      <a:endParaRPr lang="en-ID" dirty="0"/>
                    </a:p>
                  </a:txBody>
                  <a:tcPr/>
                </a:tc>
                <a:tc>
                  <a:txBody>
                    <a:bodyPr/>
                    <a:lstStyle/>
                    <a:p>
                      <a:r>
                        <a:rPr lang="en-US" dirty="0"/>
                        <a:t>43.94</a:t>
                      </a:r>
                      <a:endParaRPr lang="en-ID" dirty="0"/>
                    </a:p>
                  </a:txBody>
                  <a:tcPr/>
                </a:tc>
                <a:tc>
                  <a:txBody>
                    <a:bodyPr/>
                    <a:lstStyle/>
                    <a:p>
                      <a:r>
                        <a:rPr lang="en-US" dirty="0"/>
                        <a:t>14.27</a:t>
                      </a:r>
                      <a:endParaRPr lang="en-ID" dirty="0"/>
                    </a:p>
                  </a:txBody>
                  <a:tcPr/>
                </a:tc>
                <a:tc>
                  <a:txBody>
                    <a:bodyPr/>
                    <a:lstStyle/>
                    <a:p>
                      <a:r>
                        <a:rPr lang="en-US" dirty="0"/>
                        <a:t>0.85</a:t>
                      </a:r>
                      <a:endParaRPr lang="en-ID" dirty="0"/>
                    </a:p>
                  </a:txBody>
                  <a:tcPr/>
                </a:tc>
                <a:tc>
                  <a:txBody>
                    <a:bodyPr/>
                    <a:lstStyle/>
                    <a:p>
                      <a:r>
                        <a:rPr lang="en-US" dirty="0"/>
                        <a:t>0.84</a:t>
                      </a:r>
                      <a:endParaRPr lang="en-ID" dirty="0"/>
                    </a:p>
                  </a:txBody>
                  <a:tcPr/>
                </a:tc>
                <a:extLst>
                  <a:ext uri="{0D108BD9-81ED-4DB2-BD59-A6C34878D82A}">
                    <a16:rowId xmlns:a16="http://schemas.microsoft.com/office/drawing/2014/main" val="1968650535"/>
                  </a:ext>
                </a:extLst>
              </a:tr>
              <a:tr h="370840">
                <a:tc>
                  <a:txBody>
                    <a:bodyPr/>
                    <a:lstStyle/>
                    <a:p>
                      <a:r>
                        <a:rPr lang="en-US" dirty="0"/>
                        <a:t>Lasso </a:t>
                      </a:r>
                    </a:p>
                  </a:txBody>
                  <a:tcPr/>
                </a:tc>
                <a:tc>
                  <a:txBody>
                    <a:bodyPr/>
                    <a:lstStyle/>
                    <a:p>
                      <a:r>
                        <a:rPr lang="en-US" dirty="0"/>
                        <a:t>14304.85</a:t>
                      </a:r>
                      <a:endParaRPr lang="en-ID" dirty="0"/>
                    </a:p>
                  </a:txBody>
                  <a:tcPr/>
                </a:tc>
                <a:tc>
                  <a:txBody>
                    <a:bodyPr/>
                    <a:lstStyle/>
                    <a:p>
                      <a:r>
                        <a:rPr lang="en-US" dirty="0"/>
                        <a:t>15165.66</a:t>
                      </a:r>
                      <a:endParaRPr lang="en-ID" dirty="0"/>
                    </a:p>
                  </a:txBody>
                  <a:tcPr/>
                </a:tc>
                <a:tc>
                  <a:txBody>
                    <a:bodyPr/>
                    <a:lstStyle/>
                    <a:p>
                      <a:r>
                        <a:rPr lang="en-US" dirty="0"/>
                        <a:t>19777.47</a:t>
                      </a:r>
                      <a:endParaRPr lang="en-ID" dirty="0"/>
                    </a:p>
                  </a:txBody>
                  <a:tcPr/>
                </a:tc>
                <a:tc>
                  <a:txBody>
                    <a:bodyPr/>
                    <a:lstStyle/>
                    <a:p>
                      <a:r>
                        <a:rPr lang="en-US" dirty="0"/>
                        <a:t>20079.86</a:t>
                      </a:r>
                      <a:endParaRPr lang="en-ID" dirty="0"/>
                    </a:p>
                  </a:txBody>
                  <a:tcPr/>
                </a:tc>
                <a:tc>
                  <a:txBody>
                    <a:bodyPr/>
                    <a:lstStyle/>
                    <a:p>
                      <a:r>
                        <a:rPr lang="en-US" dirty="0"/>
                        <a:t>43.71</a:t>
                      </a:r>
                      <a:endParaRPr lang="en-ID" dirty="0"/>
                    </a:p>
                  </a:txBody>
                  <a:tcPr/>
                </a:tc>
                <a:tc>
                  <a:txBody>
                    <a:bodyPr/>
                    <a:lstStyle/>
                    <a:p>
                      <a:r>
                        <a:rPr lang="en-US" dirty="0"/>
                        <a:t>14.41</a:t>
                      </a:r>
                      <a:endParaRPr lang="en-ID" dirty="0"/>
                    </a:p>
                  </a:txBody>
                  <a:tcPr/>
                </a:tc>
                <a:tc>
                  <a:txBody>
                    <a:bodyPr/>
                    <a:lstStyle/>
                    <a:p>
                      <a:r>
                        <a:rPr lang="en-US" dirty="0"/>
                        <a:t>0.85</a:t>
                      </a:r>
                      <a:endParaRPr lang="en-ID" dirty="0"/>
                    </a:p>
                  </a:txBody>
                  <a:tcPr/>
                </a:tc>
                <a:tc>
                  <a:txBody>
                    <a:bodyPr/>
                    <a:lstStyle/>
                    <a:p>
                      <a:r>
                        <a:rPr lang="en-US" dirty="0"/>
                        <a:t>0.84</a:t>
                      </a:r>
                      <a:endParaRPr lang="en-ID" dirty="0"/>
                    </a:p>
                  </a:txBody>
                  <a:tcPr/>
                </a:tc>
                <a:extLst>
                  <a:ext uri="{0D108BD9-81ED-4DB2-BD59-A6C34878D82A}">
                    <a16:rowId xmlns:a16="http://schemas.microsoft.com/office/drawing/2014/main" val="1192558009"/>
                  </a:ext>
                </a:extLst>
              </a:tr>
              <a:tr h="370840">
                <a:tc>
                  <a:txBody>
                    <a:bodyPr/>
                    <a:lstStyle/>
                    <a:p>
                      <a:r>
                        <a:rPr lang="en-US" dirty="0"/>
                        <a:t>Random Forest</a:t>
                      </a:r>
                      <a:endParaRPr lang="en-ID" dirty="0"/>
                    </a:p>
                  </a:txBody>
                  <a:tcPr/>
                </a:tc>
                <a:tc>
                  <a:txBody>
                    <a:bodyPr/>
                    <a:lstStyle/>
                    <a:p>
                      <a:r>
                        <a:rPr lang="en-US" dirty="0"/>
                        <a:t>5941.82</a:t>
                      </a:r>
                      <a:endParaRPr lang="en-ID" dirty="0"/>
                    </a:p>
                  </a:txBody>
                  <a:tcPr/>
                </a:tc>
                <a:tc>
                  <a:txBody>
                    <a:bodyPr/>
                    <a:lstStyle/>
                    <a:p>
                      <a:r>
                        <a:rPr lang="en-US" dirty="0"/>
                        <a:t>10584.98</a:t>
                      </a:r>
                      <a:endParaRPr lang="en-ID" dirty="0"/>
                    </a:p>
                  </a:txBody>
                  <a:tcPr/>
                </a:tc>
                <a:tc>
                  <a:txBody>
                    <a:bodyPr/>
                    <a:lstStyle/>
                    <a:p>
                      <a:r>
                        <a:rPr lang="en-US" dirty="0"/>
                        <a:t>10042.39</a:t>
                      </a:r>
                      <a:endParaRPr lang="en-ID" dirty="0"/>
                    </a:p>
                  </a:txBody>
                  <a:tcPr/>
                </a:tc>
                <a:tc>
                  <a:txBody>
                    <a:bodyPr/>
                    <a:lstStyle/>
                    <a:p>
                      <a:r>
                        <a:rPr lang="en-US" dirty="0"/>
                        <a:t>16043.80</a:t>
                      </a:r>
                      <a:endParaRPr lang="en-ID" dirty="0"/>
                    </a:p>
                  </a:txBody>
                  <a:tcPr/>
                </a:tc>
                <a:tc>
                  <a:txBody>
                    <a:bodyPr/>
                    <a:lstStyle/>
                    <a:p>
                      <a:r>
                        <a:rPr lang="en-US" dirty="0"/>
                        <a:t>29.27</a:t>
                      </a:r>
                      <a:endParaRPr lang="en-ID" dirty="0"/>
                    </a:p>
                  </a:txBody>
                  <a:tcPr/>
                </a:tc>
                <a:tc>
                  <a:txBody>
                    <a:bodyPr/>
                    <a:lstStyle/>
                    <a:p>
                      <a:r>
                        <a:rPr lang="en-US" dirty="0"/>
                        <a:t>9.97</a:t>
                      </a:r>
                      <a:endParaRPr lang="en-ID" dirty="0"/>
                    </a:p>
                  </a:txBody>
                  <a:tcPr/>
                </a:tc>
                <a:tc>
                  <a:txBody>
                    <a:bodyPr/>
                    <a:lstStyle/>
                    <a:p>
                      <a:r>
                        <a:rPr lang="en-US" dirty="0"/>
                        <a:t>0.96</a:t>
                      </a:r>
                      <a:endParaRPr lang="en-ID" dirty="0"/>
                    </a:p>
                  </a:txBody>
                  <a:tcPr/>
                </a:tc>
                <a:tc>
                  <a:txBody>
                    <a:bodyPr/>
                    <a:lstStyle/>
                    <a:p>
                      <a:r>
                        <a:rPr lang="en-US" dirty="0"/>
                        <a:t>0.90</a:t>
                      </a:r>
                      <a:endParaRPr lang="en-ID" dirty="0"/>
                    </a:p>
                  </a:txBody>
                  <a:tcPr/>
                </a:tc>
                <a:extLst>
                  <a:ext uri="{0D108BD9-81ED-4DB2-BD59-A6C34878D82A}">
                    <a16:rowId xmlns:a16="http://schemas.microsoft.com/office/drawing/2014/main" val="2275725465"/>
                  </a:ext>
                </a:extLst>
              </a:tr>
            </a:tbl>
          </a:graphicData>
        </a:graphic>
      </p:graphicFrame>
      <p:sp>
        <p:nvSpPr>
          <p:cNvPr id="16" name="Rectangle: Rounded Corners 15">
            <a:extLst>
              <a:ext uri="{FF2B5EF4-FFF2-40B4-BE49-F238E27FC236}">
                <a16:creationId xmlns:a16="http://schemas.microsoft.com/office/drawing/2014/main" id="{A4DCC02A-46EB-046E-8B40-76156207CCCA}"/>
              </a:ext>
            </a:extLst>
          </p:cNvPr>
          <p:cNvSpPr/>
          <p:nvPr/>
        </p:nvSpPr>
        <p:spPr>
          <a:xfrm>
            <a:off x="731520" y="4765040"/>
            <a:ext cx="10759440" cy="1574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endParaRPr>
          </a:p>
        </p:txBody>
      </p:sp>
      <p:sp>
        <p:nvSpPr>
          <p:cNvPr id="20" name="Rectangle 4">
            <a:extLst>
              <a:ext uri="{FF2B5EF4-FFF2-40B4-BE49-F238E27FC236}">
                <a16:creationId xmlns:a16="http://schemas.microsoft.com/office/drawing/2014/main" id="{1BE4C033-1966-2E7F-8189-AFADF29A7E10}"/>
              </a:ext>
            </a:extLst>
          </p:cNvPr>
          <p:cNvSpPr>
            <a:spLocks noChangeArrowheads="1"/>
          </p:cNvSpPr>
          <p:nvPr/>
        </p:nvSpPr>
        <p:spPr bwMode="auto">
          <a:xfrm>
            <a:off x="904240" y="4975359"/>
            <a:ext cx="10006265"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Based on all metrics, especially the </a:t>
            </a:r>
            <a:r>
              <a:rPr kumimoji="0" lang="en-US" altLang="en-US" sz="1800" b="1" i="0" u="none" strike="noStrike" cap="none" normalizeH="0" baseline="0" dirty="0">
                <a:ln>
                  <a:noFill/>
                </a:ln>
                <a:solidFill>
                  <a:schemeClr val="tx1"/>
                </a:solidFill>
                <a:effectLst/>
                <a:latin typeface="Google Sans Text"/>
              </a:rPr>
              <a:t>superior $R^2$ (0.90)</a:t>
            </a:r>
            <a:r>
              <a:rPr kumimoji="0" lang="en-US" altLang="en-US" sz="1800" b="0" i="0" u="none" strike="noStrike" cap="none" normalizeH="0" baseline="0" dirty="0">
                <a:ln>
                  <a:noFill/>
                </a:ln>
                <a:solidFill>
                  <a:schemeClr val="tx1"/>
                </a:solidFill>
                <a:effectLst/>
                <a:latin typeface="Google Sans Text"/>
              </a:rPr>
              <a:t> and the </a:t>
            </a:r>
            <a:r>
              <a:rPr kumimoji="0" lang="en-US" altLang="en-US" sz="1800" b="1" i="0" u="none" strike="noStrike" cap="none" normalizeH="0" baseline="0" dirty="0">
                <a:ln>
                  <a:noFill/>
                </a:ln>
                <a:solidFill>
                  <a:schemeClr val="tx1"/>
                </a:solidFill>
                <a:effectLst/>
                <a:latin typeface="Google Sans Text"/>
              </a:rPr>
              <a:t>lowest MAE ($10,585)</a:t>
            </a:r>
            <a:r>
              <a:rPr kumimoji="0" lang="en-US" altLang="en-US" sz="1800" b="0" i="0" u="none" strike="noStrike" cap="none" normalizeH="0" baseline="0" dirty="0">
                <a:ln>
                  <a:noFill/>
                </a:ln>
                <a:solidFill>
                  <a:schemeClr val="tx1"/>
                </a:solidFill>
                <a:effectLst/>
                <a:latin typeface="Google Sans Text"/>
              </a:rPr>
              <a:t>, </a:t>
            </a:r>
            <a:br>
              <a:rPr kumimoji="0" lang="en-US" altLang="en-US" sz="1800" b="0" i="0" u="none" strike="noStrike" cap="none" normalizeH="0" baseline="0" dirty="0">
                <a:ln>
                  <a:noFill/>
                </a:ln>
                <a:solidFill>
                  <a:schemeClr val="tx1"/>
                </a:solidFill>
                <a:effectLst/>
                <a:latin typeface="Google Sans Text"/>
              </a:rPr>
            </a:br>
            <a:r>
              <a:rPr kumimoji="0" lang="en-US" altLang="en-US" sz="1800" b="0" i="0" u="none" strike="noStrike" cap="none" normalizeH="0" baseline="0" dirty="0">
                <a:ln>
                  <a:noFill/>
                </a:ln>
                <a:solidFill>
                  <a:schemeClr val="tx1"/>
                </a:solidFill>
                <a:effectLst/>
                <a:latin typeface="Google Sans Text"/>
              </a:rPr>
              <a:t>the </a:t>
            </a:r>
            <a:r>
              <a:rPr kumimoji="0" lang="en-US" altLang="en-US" sz="1800" b="1" i="0" u="none" strike="noStrike" cap="none" normalizeH="0" baseline="0" dirty="0">
                <a:ln>
                  <a:noFill/>
                </a:ln>
                <a:solidFill>
                  <a:schemeClr val="tx1"/>
                </a:solidFill>
                <a:effectLst/>
                <a:latin typeface="Google Sans Text"/>
              </a:rPr>
              <a:t>Random Forest Regressor</a:t>
            </a:r>
            <a:r>
              <a:rPr kumimoji="0" lang="en-US" altLang="en-US" sz="1800" b="0" i="0" u="none" strike="noStrike" cap="none" normalizeH="0" baseline="0" dirty="0">
                <a:ln>
                  <a:noFill/>
                </a:ln>
                <a:solidFill>
                  <a:schemeClr val="tx1"/>
                </a:solidFill>
                <a:effectLst/>
                <a:latin typeface="Google Sans Text"/>
              </a:rPr>
              <a:t> is the best model for salary prediction.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Although there is a slight degree of </a:t>
            </a:r>
            <a:r>
              <a:rPr kumimoji="0" lang="en-US" altLang="en-US" sz="1800" b="0" i="1" u="none" strike="noStrike" cap="none" normalizeH="0" baseline="0" dirty="0">
                <a:ln>
                  <a:noFill/>
                </a:ln>
                <a:solidFill>
                  <a:schemeClr val="tx1"/>
                </a:solidFill>
                <a:effectLst/>
                <a:latin typeface="Google Sans Text"/>
              </a:rPr>
              <a:t>overfitting</a:t>
            </a:r>
            <a:r>
              <a:rPr kumimoji="0" lang="en-US" altLang="en-US" sz="1800" b="0" i="0" u="none" strike="noStrike" cap="none" normalizeH="0" baseline="0" dirty="0">
                <a:ln>
                  <a:noFill/>
                </a:ln>
                <a:solidFill>
                  <a:schemeClr val="tx1"/>
                </a:solidFill>
                <a:effectLst/>
                <a:latin typeface="Google Sans Text"/>
              </a:rPr>
              <a:t>, the overall accuracy and</a:t>
            </a:r>
            <a:br>
              <a:rPr kumimoji="0" lang="en-US" altLang="en-US" sz="1800" b="0" i="0" u="none" strike="noStrike" cap="none" normalizeH="0" baseline="0" dirty="0">
                <a:ln>
                  <a:noFill/>
                </a:ln>
                <a:solidFill>
                  <a:schemeClr val="tx1"/>
                </a:solidFill>
                <a:effectLst/>
                <a:latin typeface="Google Sans Text"/>
              </a:rPr>
            </a:br>
            <a:r>
              <a:rPr kumimoji="0" lang="en-US" altLang="en-US" sz="1800" b="0" i="0" u="none" strike="noStrike" cap="none" normalizeH="0" baseline="0" dirty="0">
                <a:ln>
                  <a:noFill/>
                </a:ln>
                <a:solidFill>
                  <a:schemeClr val="tx1"/>
                </a:solidFill>
                <a:effectLst/>
                <a:latin typeface="Google Sans Text"/>
              </a:rPr>
              <a:t>predictive power of the Random Forest model significantly exceeds that of the Ridge and Lasso models.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7608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CAD141-5FE1-A6A1-E38B-254E83CFCA6E}"/>
              </a:ext>
            </a:extLst>
          </p:cNvPr>
          <p:cNvSpPr txBox="1">
            <a:spLocks/>
          </p:cNvSpPr>
          <p:nvPr/>
        </p:nvSpPr>
        <p:spPr>
          <a:xfrm>
            <a:off x="728294" y="882058"/>
            <a:ext cx="11029616" cy="988332"/>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Feature importance</a:t>
            </a:r>
            <a:endParaRPr lang="en-ID" dirty="0"/>
          </a:p>
        </p:txBody>
      </p:sp>
      <p:pic>
        <p:nvPicPr>
          <p:cNvPr id="7" name="Picture 6">
            <a:extLst>
              <a:ext uri="{FF2B5EF4-FFF2-40B4-BE49-F238E27FC236}">
                <a16:creationId xmlns:a16="http://schemas.microsoft.com/office/drawing/2014/main" id="{3BC70B82-2CA7-401D-1D30-94980853B8E9}"/>
              </a:ext>
            </a:extLst>
          </p:cNvPr>
          <p:cNvPicPr>
            <a:picLocks noChangeAspect="1"/>
          </p:cNvPicPr>
          <p:nvPr/>
        </p:nvPicPr>
        <p:blipFill>
          <a:blip r:embed="rId2"/>
          <a:stretch>
            <a:fillRect/>
          </a:stretch>
        </p:blipFill>
        <p:spPr>
          <a:xfrm>
            <a:off x="1006815" y="1870390"/>
            <a:ext cx="6054385" cy="3787468"/>
          </a:xfrm>
          <a:prstGeom prst="rect">
            <a:avLst/>
          </a:prstGeom>
        </p:spPr>
      </p:pic>
      <p:sp>
        <p:nvSpPr>
          <p:cNvPr id="9" name="TextBox 8">
            <a:extLst>
              <a:ext uri="{FF2B5EF4-FFF2-40B4-BE49-F238E27FC236}">
                <a16:creationId xmlns:a16="http://schemas.microsoft.com/office/drawing/2014/main" id="{2F291298-B656-6420-C884-FCFEBF57117F}"/>
              </a:ext>
            </a:extLst>
          </p:cNvPr>
          <p:cNvSpPr txBox="1"/>
          <p:nvPr/>
        </p:nvSpPr>
        <p:spPr>
          <a:xfrm>
            <a:off x="6644640" y="2194463"/>
            <a:ext cx="4683760" cy="3139321"/>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Years of Experience</a:t>
            </a:r>
            <a:r>
              <a:rPr lang="en-US" dirty="0"/>
              <a:t> factor is </a:t>
            </a:r>
            <a:r>
              <a:rPr lang="en-US" b="1" dirty="0"/>
              <a:t>highly dominant</a:t>
            </a:r>
            <a:r>
              <a:rPr lang="en-US" dirty="0"/>
              <a:t> and far more important than any other variable, achieving an importance score of nearly </a:t>
            </a:r>
            <a:r>
              <a:rPr lang="en-US" b="1" dirty="0"/>
              <a:t>0.8</a:t>
            </a:r>
            <a:r>
              <a:rPr lang="en-US" dirty="0"/>
              <a:t> (or 80% of the total distributed importance).</a:t>
            </a:r>
          </a:p>
          <a:p>
            <a:br>
              <a:rPr lang="en-US" b="1" dirty="0"/>
            </a:br>
            <a:r>
              <a:rPr lang="en-US" b="1" dirty="0"/>
              <a:t>Key Takeaway:</a:t>
            </a:r>
            <a:r>
              <a:rPr lang="en-US" dirty="0"/>
              <a:t> This confirms our intuitive finding that </a:t>
            </a:r>
            <a:r>
              <a:rPr lang="en-US" b="1" dirty="0"/>
              <a:t>seniority and time spent in the job role</a:t>
            </a:r>
            <a:r>
              <a:rPr lang="en-US" dirty="0"/>
              <a:t> are the primary determinants of salary size. Companies place the highest value on cumulative experience.</a:t>
            </a:r>
          </a:p>
        </p:txBody>
      </p:sp>
    </p:spTree>
    <p:extLst>
      <p:ext uri="{BB962C8B-B14F-4D97-AF65-F5344CB8AC3E}">
        <p14:creationId xmlns:p14="http://schemas.microsoft.com/office/powerpoint/2010/main" val="723888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0433C-6578-86B0-D090-36F260C0F296}"/>
              </a:ext>
            </a:extLst>
          </p:cNvPr>
          <p:cNvSpPr>
            <a:spLocks noGrp="1"/>
          </p:cNvSpPr>
          <p:nvPr>
            <p:ph type="title"/>
          </p:nvPr>
        </p:nvSpPr>
        <p:spPr/>
        <p:txBody>
          <a:bodyPr/>
          <a:lstStyle/>
          <a:p>
            <a:r>
              <a:rPr lang="en-US" dirty="0" err="1"/>
              <a:t>Recomendation</a:t>
            </a:r>
            <a:endParaRPr lang="en-ID" dirty="0"/>
          </a:p>
        </p:txBody>
      </p:sp>
      <p:sp>
        <p:nvSpPr>
          <p:cNvPr id="3" name="Content Placeholder 2">
            <a:extLst>
              <a:ext uri="{FF2B5EF4-FFF2-40B4-BE49-F238E27FC236}">
                <a16:creationId xmlns:a16="http://schemas.microsoft.com/office/drawing/2014/main" id="{3D1C5A5D-E917-1945-5195-A46D9A6C332C}"/>
              </a:ext>
            </a:extLst>
          </p:cNvPr>
          <p:cNvSpPr>
            <a:spLocks noGrp="1"/>
          </p:cNvSpPr>
          <p:nvPr>
            <p:ph idx="1"/>
          </p:nvPr>
        </p:nvSpPr>
        <p:spPr/>
        <p:txBody>
          <a:bodyPr/>
          <a:lstStyle/>
          <a:p>
            <a:endParaRPr lang="en-ID"/>
          </a:p>
        </p:txBody>
      </p:sp>
    </p:spTree>
    <p:extLst>
      <p:ext uri="{BB962C8B-B14F-4D97-AF65-F5344CB8AC3E}">
        <p14:creationId xmlns:p14="http://schemas.microsoft.com/office/powerpoint/2010/main" val="771026410"/>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184</TotalTime>
  <Words>1008</Words>
  <Application>Microsoft Office PowerPoint</Application>
  <PresentationFormat>Widescreen</PresentationFormat>
  <Paragraphs>142</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Franklin Gothic Book</vt:lpstr>
      <vt:lpstr>Franklin Gothic Demi</vt:lpstr>
      <vt:lpstr>Google Sans Text</vt:lpstr>
      <vt:lpstr>Wingdings 2</vt:lpstr>
      <vt:lpstr>DividendVTI</vt:lpstr>
      <vt:lpstr>Understanding Key Factors That Influence Salary</vt:lpstr>
      <vt:lpstr>TABLE OF CONTENT</vt:lpstr>
      <vt:lpstr>INTRODUCTION</vt:lpstr>
      <vt:lpstr>PROJECT STATEMENT</vt:lpstr>
      <vt:lpstr>objective</vt:lpstr>
      <vt:lpstr>Data preparation</vt:lpstr>
      <vt:lpstr>KEY FACTOR INFLUENCE SALARY? </vt:lpstr>
      <vt:lpstr>KEY FACTOR INFLUENCE SALARY? </vt:lpstr>
      <vt:lpstr>KEY FACTOR INFLUENCE SALARY? </vt:lpstr>
      <vt:lpstr>Relationship with the variables</vt:lpstr>
      <vt:lpstr>Relationship with the variables</vt:lpstr>
      <vt:lpstr>Relationship with the variables</vt:lpstr>
      <vt:lpstr>Relationship with the variables</vt:lpstr>
      <vt:lpstr>DATA PREPRoCESSING</vt:lpstr>
      <vt:lpstr>MULTICOLINEARITY</vt:lpstr>
      <vt:lpstr>Regression model  the best model</vt:lpstr>
      <vt:lpstr>PowerPoint Presentation</vt:lpstr>
      <vt:lpstr>Recomendation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near lambardawati</dc:creator>
  <cp:lastModifiedBy>near lambardawati</cp:lastModifiedBy>
  <cp:revision>1</cp:revision>
  <dcterms:created xsi:type="dcterms:W3CDTF">2025-11-01T02:56:36Z</dcterms:created>
  <dcterms:modified xsi:type="dcterms:W3CDTF">2025-11-01T06:01:04Z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